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(SLIDE 1):</a:t>
            </a:r>
          </a:p>
          <a:p>
            <a:r>
              <a:t>'Respected Jury, we present Project AeroGuard: an AI-enabled, real-time Digital Twin engineered specifically for DRDO Problem Statement SIH26054. India's TAPAS-BH-201 MALE UAV relies on turbocharged aero piston engines for 24-hour persistent missions. Our digital twin prevents in-flight engine seizure by combining 1D thermodynamics with deep recurrent prognostics.'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NOTES:</a:t>
            </a:r>
          </a:p>
          <a:p>
            <a:r>
              <a:t>'Aero-piston engines in MALE drones run at maximum continuous load for up to 24 hours. Incipient failures—like thermal cracking or oil boundary friction—are non-linear and strike abruptly. When an engine seizes mid-flight, a $15M military asset is completely lost.'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NOTES:</a:t>
            </a:r>
          </a:p>
          <a:p>
            <a:r>
              <a:t>'Walk through the timeline: 30 minutes before failure, thermodynamic physics deltas begin. 10 minutes prior, bearing micro-vibrations spike. Legacy GCS static alarms fire at T-Minus 1 minute—when it is already physically too late. AeroGuard captures the problem right at T-Minus 30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SPEAKER NOTES:</a:t>
            </a:r>
          </a:p>
          <a:p>
            <a:r>
              <a:t>'AeroGuard operates on 4 pillars: Stream high-frequency CAN-bus frames, Detect sub-surface thermodynamic deltas, Predict RUL in minutes with BiLSTM, and Act by dispatching autonomous corrective flight directives.'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SPEAKER NOTES:</a:t>
            </a:r>
          </a:p>
          <a:p>
            <a:r>
              <a:t>'Compare AeroGuard with legacy ground stations across all 4 dimensions: predictive residuals, active throttle control, zero hallucinations via thermodynamic anchoring, and edge-native offline execution.'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SPEAKER NOTES:</a:t>
            </a:r>
          </a:p>
          <a:p>
            <a:r>
              <a:t>'Here is the complete end-to-end pipeline: from sensor vibration to pilot directive in under 50ms.'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SPEAKER NOTES:</a:t>
            </a:r>
          </a:p>
          <a:p>
            <a:r>
              <a:t>'Layer 1 ingests 4 physical streams: rotational, thermal, lubrication, and structural vibration at 100ms intervals.'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SPEAKER NOTES:</a:t>
            </a:r>
          </a:p>
          <a:p>
            <a:r>
              <a:t>'Layer 2 is our core scientific contribution: anchoring AI to 1D thermodynamics. This eliminates AI hallucinations and isolates true mechanical degradation via physics residuals.'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SPEAKER NOTES:</a:t>
            </a:r>
          </a:p>
          <a:p>
            <a:r>
              <a:t>'Layer 3 acts as the AI Co-Pilot: commanding emergency glide paths, power de-rates, and computing exact life-extension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SPEAKER NOTES:</a:t>
            </a:r>
          </a:p>
          <a:p>
            <a:r>
              <a:t>'Layer 4 is our tactical Ground Control Station. Point to the RUL countdown, the 4-cylinder thermal schematic, the real-time Recharts line graphs, and the interactive testing deck.'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SPEAKER NOTES:</a:t>
            </a:r>
          </a:p>
          <a:p>
            <a:r>
              <a:t>'This is a favorite question of professors. Deliver this answer clearly: isolated single-channel excursions without thermodynamic cross-validation are flagged as sensor faults, not engine failures.'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SPEAKER NOTES:</a:t>
            </a:r>
          </a:p>
          <a:p>
            <a:r>
              <a:t>'Address classified military constraints and command authority: physics-grounded CAN-bus simulation and human-on-the-loop flight control.'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SPEAKER NOTES:</a:t>
            </a:r>
          </a:p>
          <a:p>
            <a:r>
              <a:t>'Walk through the clean 4-tier technology stack: Next.js frontend, Autonomous Agent, FastAPI backend, PyTorch AI engine.'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CLOSING SCRIPT (SLIDE 14):</a:t>
            </a:r>
          </a:p>
          <a:p>
            <a:r>
              <a:t>'To conclude: Project AeroGuard ensures maximum persistent ISR with zero unpredictable engine losses. Our digital twin is fully verified, lightweight, and ready for deployment on India's defense UAVs. Thank you. We are now open for questions from the jury.'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0096B4"/>
                </a:solidFill>
                <a:latin typeface="Courier New"/>
              </a:defRPr>
            </a:pPr>
          </a:p>
        </p:txBody>
      </p:sp>
      <p:sp>
        <p:nvSpPr>
          <p:cNvPr id="3" name="TextBox 2"/>
          <p:cNvSpPr txBox="1"/>
          <p:nvPr/>
        </p:nvSpPr>
        <p:spPr>
          <a:xfrm>
            <a:off x="731520" y="365760"/>
            <a:ext cx="3657600" cy="274320"/>
          </a:xfrm>
          <a:prstGeom prst="rect">
            <a:avLst/>
          </a:prstGeom>
          <a:noFill/>
        </p:spPr>
        <p:txBody>
          <a:bodyPr wrap="none">
            <a:spAutoFit/>
          </a:bodyPr>
          <a:lstStyle/>
          <a:p>
            <a:pPr>
              <a:defRPr sz="900">
                <a:solidFill>
                  <a:srgbClr val="0096B4"/>
                </a:solidFill>
                <a:latin typeface="Courier New"/>
              </a:defRPr>
            </a:pPr>
            <a:r>
              <a:t>[ LAT/LON DATA BLOCK ]</a:t>
            </a:r>
          </a:p>
        </p:txBody>
      </p:sp>
      <p:sp>
        <p:nvSpPr>
          <p:cNvPr id="4" name="TextBox 3"/>
          <p:cNvSpPr txBox="1"/>
          <p:nvPr/>
        </p:nvSpPr>
        <p:spPr>
          <a:xfrm>
            <a:off x="9601200" y="365760"/>
            <a:ext cx="1828800" cy="274320"/>
          </a:xfrm>
          <a:prstGeom prst="rect">
            <a:avLst/>
          </a:prstGeom>
          <a:noFill/>
        </p:spPr>
        <p:txBody>
          <a:bodyPr wrap="none">
            <a:spAutoFit/>
          </a:bodyPr>
          <a:lstStyle/>
          <a:p>
            <a:pPr>
              <a:defRPr sz="900">
                <a:solidFill>
                  <a:srgbClr val="0096B4"/>
                </a:solidFill>
                <a:latin typeface="Courier New"/>
              </a:defRPr>
            </a:pPr>
            <a:r>
              <a:t>[ UPLINK: SECURE ]</a:t>
            </a:r>
          </a:p>
        </p:txBody>
      </p:sp>
      <p:pic>
        <p:nvPicPr>
          <p:cNvPr id="5" name="Picture 4" descr="aeroguard_uav_hero_1788207439442.jpg"/>
          <p:cNvPicPr>
            <a:picLocks noChangeAspect="1"/>
          </p:cNvPicPr>
          <p:nvPr/>
        </p:nvPicPr>
        <p:blipFill>
          <a:blip r:embed="rId2"/>
          <a:stretch>
            <a:fillRect/>
          </a:stretch>
        </p:blipFill>
        <p:spPr>
          <a:xfrm>
            <a:off x="2011680" y="822960"/>
            <a:ext cx="8229600" cy="4593265"/>
          </a:xfrm>
          <a:prstGeom prst="rect">
            <a:avLst/>
          </a:prstGeom>
        </p:spPr>
      </p:pic>
      <p:sp>
        <p:nvSpPr>
          <p:cNvPr id="6" name="TextBox 5"/>
          <p:cNvSpPr txBox="1"/>
          <p:nvPr/>
        </p:nvSpPr>
        <p:spPr>
          <a:xfrm>
            <a:off x="731520" y="4206240"/>
            <a:ext cx="10698480" cy="1645920"/>
          </a:xfrm>
          <a:prstGeom prst="rect">
            <a:avLst/>
          </a:prstGeom>
          <a:noFill/>
        </p:spPr>
        <p:txBody>
          <a:bodyPr wrap="square">
            <a:spAutoFit/>
          </a:bodyPr>
          <a:lstStyle/>
          <a:p>
            <a:pPr>
              <a:defRPr sz="3600" b="1">
                <a:solidFill>
                  <a:srgbClr val="F1F5F9"/>
                </a:solidFill>
                <a:latin typeface="Arial"/>
              </a:defRPr>
            </a:pPr>
            <a:r>
              <a:t>PROJECT AEROGUARD</a:t>
            </a:r>
          </a:p>
          <a:p>
            <a:pPr>
              <a:defRPr sz="1600">
                <a:solidFill>
                  <a:srgbClr val="00E5FF"/>
                </a:solidFill>
                <a:latin typeface="Arial"/>
              </a:defRPr>
            </a:pPr>
            <a:r>
              <a:t>An AI-Enabled, Real-Time Digital Twin for Tactical UAV Piston Engines.</a:t>
            </a:r>
          </a:p>
        </p:txBody>
      </p:sp>
      <p:sp>
        <p:nvSpPr>
          <p:cNvPr id="7" name="Rounded Rectangle 6"/>
          <p:cNvSpPr/>
          <p:nvPr/>
        </p:nvSpPr>
        <p:spPr>
          <a:xfrm>
            <a:off x="731520" y="5760720"/>
            <a:ext cx="6858000" cy="731520"/>
          </a:xfrm>
          <a:prstGeom prst="roundRect">
            <a:avLst/>
          </a:prstGeom>
          <a:solidFill>
            <a:srgbClr val="0D1424"/>
          </a:solidFill>
          <a:ln w="15240">
            <a:solidFill>
              <a:srgbClr val="009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806440"/>
            <a:ext cx="6675120" cy="640080"/>
          </a:xfrm>
          <a:prstGeom prst="rect">
            <a:avLst/>
          </a:prstGeom>
          <a:noFill/>
        </p:spPr>
        <p:txBody>
          <a:bodyPr wrap="square">
            <a:spAutoFit/>
          </a:bodyPr>
          <a:lstStyle/>
          <a:p>
            <a:pPr>
              <a:defRPr sz="850">
                <a:solidFill>
                  <a:srgbClr val="94A3B8"/>
                </a:solidFill>
                <a:latin typeface="Courier New"/>
              </a:defRPr>
            </a:pPr>
            <a:r>
              <a:t>TARGET: MALE UAV / Rotax 914 / Austro AE300</a:t>
            </a:r>
            <a:br/>
            <a:r>
              <a:t>ID: SIH26054 | SPONSOR: DRDO / iDEX</a:t>
            </a:r>
            <a:br/>
            <a:r>
              <a:t>CATEGORY: Software | THEME: Robotics and Drones</a:t>
            </a:r>
          </a:p>
        </p:txBody>
      </p:sp>
      <p:sp>
        <p:nvSpPr>
          <p:cNvPr id="9" name="Rounded Rectangle 8"/>
          <p:cNvSpPr/>
          <p:nvPr/>
        </p:nvSpPr>
        <p:spPr>
          <a:xfrm>
            <a:off x="9601200" y="5852160"/>
            <a:ext cx="1828800" cy="457200"/>
          </a:xfrm>
          <a:prstGeom prst="roundRect">
            <a:avLst/>
          </a:prstGeom>
          <a:solidFill>
            <a:srgbClr val="0D142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46920" y="5897880"/>
            <a:ext cx="1737360" cy="365760"/>
          </a:xfrm>
          <a:prstGeom prst="rect">
            <a:avLst/>
          </a:prstGeom>
          <a:noFill/>
        </p:spPr>
        <p:txBody>
          <a:bodyPr wrap="none">
            <a:spAutoFit/>
          </a:bodyPr>
          <a:lstStyle/>
          <a:p>
            <a:pPr>
              <a:defRPr sz="850" b="1">
                <a:solidFill>
                  <a:srgbClr val="10B981"/>
                </a:solidFill>
                <a:latin typeface="Courier New"/>
              </a:defRPr>
            </a:pPr>
            <a:r>
              <a:t>SYS_STATUS: NOMINAL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Persistent ISR sorties push aero piston engines beyond their thermal breaking point.</a:t>
            </a:r>
          </a:p>
        </p:txBody>
      </p:sp>
      <p:sp>
        <p:nvSpPr>
          <p:cNvPr id="4" name="Rounded Rectangle 3"/>
          <p:cNvSpPr/>
          <p:nvPr/>
        </p:nvSpPr>
        <p:spPr>
          <a:xfrm>
            <a:off x="731520" y="1280160"/>
            <a:ext cx="5212080" cy="347472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eroguard_uav_hero_1788207439442.jpg"/>
          <p:cNvPicPr>
            <a:picLocks noChangeAspect="1"/>
          </p:cNvPicPr>
          <p:nvPr/>
        </p:nvPicPr>
        <p:blipFill>
          <a:blip r:embed="rId2"/>
          <a:stretch>
            <a:fillRect/>
          </a:stretch>
        </p:blipFill>
        <p:spPr>
          <a:xfrm>
            <a:off x="914400" y="1463040"/>
            <a:ext cx="4846320" cy="2704923"/>
          </a:xfrm>
          <a:prstGeom prst="rect">
            <a:avLst/>
          </a:prstGeom>
        </p:spPr>
      </p:pic>
      <p:sp>
        <p:nvSpPr>
          <p:cNvPr id="6" name="TextBox 5"/>
          <p:cNvSpPr txBox="1"/>
          <p:nvPr/>
        </p:nvSpPr>
        <p:spPr>
          <a:xfrm>
            <a:off x="1371600" y="4114800"/>
            <a:ext cx="3931920" cy="457200"/>
          </a:xfrm>
          <a:prstGeom prst="rect">
            <a:avLst/>
          </a:prstGeom>
          <a:noFill/>
        </p:spPr>
        <p:txBody>
          <a:bodyPr wrap="none">
            <a:spAutoFit/>
          </a:bodyPr>
          <a:lstStyle/>
          <a:p>
            <a:pPr algn="ctr">
              <a:defRPr sz="1200" b="1">
                <a:solidFill>
                  <a:srgbClr val="00E5FF"/>
                </a:solidFill>
              </a:defRPr>
            </a:pPr>
            <a:r>
              <a:t>24+ Hour Persistent ISR Sortie</a:t>
            </a:r>
          </a:p>
        </p:txBody>
      </p:sp>
      <p:sp>
        <p:nvSpPr>
          <p:cNvPr id="7" name="Rounded Rectangle 6"/>
          <p:cNvSpPr/>
          <p:nvPr/>
        </p:nvSpPr>
        <p:spPr>
          <a:xfrm>
            <a:off x="6217920" y="1280160"/>
            <a:ext cx="5212080" cy="3474720"/>
          </a:xfrm>
          <a:prstGeom prst="roundRect">
            <a:avLst/>
          </a:prstGeom>
          <a:solidFill>
            <a:srgbClr val="0D1424"/>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eroguard_thermal_failure_1788207476921.jpg"/>
          <p:cNvPicPr>
            <a:picLocks noChangeAspect="1"/>
          </p:cNvPicPr>
          <p:nvPr/>
        </p:nvPicPr>
        <p:blipFill>
          <a:blip r:embed="rId3"/>
          <a:stretch>
            <a:fillRect/>
          </a:stretch>
        </p:blipFill>
        <p:spPr>
          <a:xfrm>
            <a:off x="6400800" y="1417320"/>
            <a:ext cx="4846320" cy="2704923"/>
          </a:xfrm>
          <a:prstGeom prst="rect">
            <a:avLst/>
          </a:prstGeom>
        </p:spPr>
      </p:pic>
      <p:sp>
        <p:nvSpPr>
          <p:cNvPr id="9" name="Rounded Rectangle 8"/>
          <p:cNvSpPr/>
          <p:nvPr/>
        </p:nvSpPr>
        <p:spPr>
          <a:xfrm>
            <a:off x="731520" y="4937760"/>
            <a:ext cx="3383280" cy="146304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029200"/>
            <a:ext cx="3108960" cy="1280160"/>
          </a:xfrm>
          <a:prstGeom prst="rect">
            <a:avLst/>
          </a:prstGeom>
          <a:noFill/>
        </p:spPr>
        <p:txBody>
          <a:bodyPr wrap="square">
            <a:spAutoFit/>
          </a:bodyPr>
          <a:lstStyle/>
          <a:p>
            <a:pPr>
              <a:spcAft>
                <a:spcPts val="400"/>
              </a:spcAft>
              <a:defRPr sz="1200" b="1">
                <a:solidFill>
                  <a:srgbClr val="00E5FF"/>
                </a:solidFill>
              </a:defRPr>
            </a:pPr>
            <a:r>
              <a:t>The Mission</a:t>
            </a:r>
          </a:p>
          <a:p>
            <a:pPr>
              <a:defRPr sz="950">
                <a:solidFill>
                  <a:srgbClr val="94A3B8"/>
                </a:solidFill>
              </a:defRPr>
            </a:pPr>
            <a:r>
              <a:t>Medium-Altitude Long-Endurance (MALE) drones demand high continuous mechanical loads.</a:t>
            </a:r>
          </a:p>
        </p:txBody>
      </p:sp>
      <p:sp>
        <p:nvSpPr>
          <p:cNvPr id="11" name="Rounded Rectangle 10"/>
          <p:cNvSpPr/>
          <p:nvPr/>
        </p:nvSpPr>
        <p:spPr>
          <a:xfrm>
            <a:off x="4389120" y="4937760"/>
            <a:ext cx="3383280" cy="1463040"/>
          </a:xfrm>
          <a:prstGeom prst="roundRect">
            <a:avLst/>
          </a:prstGeom>
          <a:solidFill>
            <a:srgbClr val="0D142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5029200"/>
            <a:ext cx="3108960" cy="1280160"/>
          </a:xfrm>
          <a:prstGeom prst="rect">
            <a:avLst/>
          </a:prstGeom>
          <a:noFill/>
        </p:spPr>
        <p:txBody>
          <a:bodyPr wrap="square">
            <a:spAutoFit/>
          </a:bodyPr>
          <a:lstStyle/>
          <a:p>
            <a:pPr>
              <a:spcAft>
                <a:spcPts val="400"/>
              </a:spcAft>
              <a:defRPr sz="1200" b="1">
                <a:solidFill>
                  <a:srgbClr val="F59E0B"/>
                </a:solidFill>
              </a:defRPr>
            </a:pPr>
            <a:r>
              <a:t>The Threat</a:t>
            </a:r>
          </a:p>
          <a:p>
            <a:pPr>
              <a:defRPr sz="950">
                <a:solidFill>
                  <a:srgbClr val="94A3B8"/>
                </a:solidFill>
              </a:defRPr>
            </a:pPr>
            <a:r>
              <a:t>Unpredictable catastrophic component failures: cylinder head thermal runaways, unmetered combustion misfires, and sudden oil starvation.</a:t>
            </a:r>
          </a:p>
        </p:txBody>
      </p:sp>
      <p:sp>
        <p:nvSpPr>
          <p:cNvPr id="13" name="Rounded Rectangle 12"/>
          <p:cNvSpPr/>
          <p:nvPr/>
        </p:nvSpPr>
        <p:spPr>
          <a:xfrm>
            <a:off x="8046720" y="4937760"/>
            <a:ext cx="3383280" cy="1463040"/>
          </a:xfrm>
          <a:prstGeom prst="roundRect">
            <a:avLst/>
          </a:prstGeom>
          <a:solidFill>
            <a:srgbClr val="0D1424"/>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5029200"/>
            <a:ext cx="3108960" cy="1280160"/>
          </a:xfrm>
          <a:prstGeom prst="rect">
            <a:avLst/>
          </a:prstGeom>
          <a:noFill/>
        </p:spPr>
        <p:txBody>
          <a:bodyPr wrap="square">
            <a:spAutoFit/>
          </a:bodyPr>
          <a:lstStyle/>
          <a:p>
            <a:pPr>
              <a:spcAft>
                <a:spcPts val="400"/>
              </a:spcAft>
              <a:defRPr sz="1200" b="1">
                <a:solidFill>
                  <a:srgbClr val="EF4444"/>
                </a:solidFill>
              </a:defRPr>
            </a:pPr>
            <a:r>
              <a:t>The Cost</a:t>
            </a:r>
          </a:p>
          <a:p>
            <a:pPr>
              <a:defRPr sz="950">
                <a:solidFill>
                  <a:srgbClr val="94A3B8"/>
                </a:solidFill>
              </a:defRPr>
            </a:pPr>
            <a:r>
              <a:t>In-flight engine seizure equates to immediate loss of propulsion, loss of the ISR mission, and the destruction of multi-million-dollar defense assets.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The fatal flaw in legacy GCS operations: threshold alarms are purely reactive.</a:t>
            </a:r>
          </a:p>
        </p:txBody>
      </p:sp>
      <p:sp>
        <p:nvSpPr>
          <p:cNvPr id="4" name="Rounded Rectangle 3"/>
          <p:cNvSpPr/>
          <p:nvPr/>
        </p:nvSpPr>
        <p:spPr>
          <a:xfrm>
            <a:off x="731520" y="1280160"/>
            <a:ext cx="10698480" cy="3291840"/>
          </a:xfrm>
          <a:prstGeom prst="roundRect">
            <a:avLst/>
          </a:prstGeom>
          <a:solidFill>
            <a:srgbClr val="0D1424"/>
          </a:solidFill>
          <a:ln w="15240">
            <a:solidFill>
              <a:srgbClr val="1B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65760"/>
          </a:xfrm>
          <a:prstGeom prst="rect">
            <a:avLst/>
          </a:prstGeom>
          <a:noFill/>
        </p:spPr>
        <p:txBody>
          <a:bodyPr wrap="none">
            <a:spAutoFit/>
          </a:bodyPr>
          <a:lstStyle/>
          <a:p>
            <a:pPr algn="ctr">
              <a:defRPr sz="1300" b="1">
                <a:solidFill>
                  <a:srgbClr val="00E5FF"/>
                </a:solidFill>
              </a:defRPr>
            </a:pPr>
            <a:r>
              <a:t>THE ANATOMY OF A SEIZURE</a:t>
            </a:r>
          </a:p>
        </p:txBody>
      </p:sp>
      <p:sp>
        <p:nvSpPr>
          <p:cNvPr id="6" name="Rounded Rectangle 5"/>
          <p:cNvSpPr/>
          <p:nvPr/>
        </p:nvSpPr>
        <p:spPr>
          <a:xfrm>
            <a:off x="1097280" y="2468880"/>
            <a:ext cx="9966960"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28800"/>
            <a:ext cx="2103120" cy="1005840"/>
          </a:xfrm>
          <a:prstGeom prst="rect">
            <a:avLst/>
          </a:prstGeom>
          <a:noFill/>
        </p:spPr>
        <p:txBody>
          <a:bodyPr wrap="square">
            <a:spAutoFit/>
          </a:bodyPr>
          <a:lstStyle/>
          <a:p>
            <a:pPr>
              <a:defRPr sz="1050" b="1">
                <a:solidFill>
                  <a:srgbClr val="00E5FF"/>
                </a:solidFill>
              </a:defRPr>
            </a:pPr>
            <a:r>
              <a:t>T-Minus 30 mins</a:t>
            </a:r>
          </a:p>
          <a:p>
            <a:pPr>
              <a:defRPr sz="850">
                <a:solidFill>
                  <a:srgbClr val="94A3B8"/>
                </a:solidFill>
              </a:defRPr>
            </a:pPr>
            <a:r>
              <a:t>Internal thermodynamic</a:t>
            </a:r>
            <a:br/>
            <a:r>
              <a:t>deviation begins</a:t>
            </a:r>
            <a:br/>
            <a:r>
              <a:t>(invisible to operator)</a:t>
            </a:r>
          </a:p>
        </p:txBody>
      </p:sp>
      <p:sp>
        <p:nvSpPr>
          <p:cNvPr id="8" name="TextBox 7"/>
          <p:cNvSpPr txBox="1"/>
          <p:nvPr/>
        </p:nvSpPr>
        <p:spPr>
          <a:xfrm>
            <a:off x="4114800" y="2834640"/>
            <a:ext cx="2103120" cy="1005840"/>
          </a:xfrm>
          <a:prstGeom prst="rect">
            <a:avLst/>
          </a:prstGeom>
          <a:noFill/>
        </p:spPr>
        <p:txBody>
          <a:bodyPr wrap="square">
            <a:spAutoFit/>
          </a:bodyPr>
          <a:lstStyle/>
          <a:p>
            <a:pPr>
              <a:defRPr sz="1050" b="1">
                <a:solidFill>
                  <a:srgbClr val="F59E0B"/>
                </a:solidFill>
              </a:defRPr>
            </a:pPr>
            <a:r>
              <a:t>T-Minus 10 mins</a:t>
            </a:r>
          </a:p>
          <a:p>
            <a:pPr>
              <a:defRPr sz="850">
                <a:solidFill>
                  <a:srgbClr val="94A3B8"/>
                </a:solidFill>
              </a:defRPr>
            </a:pPr>
            <a:r>
              <a:t>Bearing friction</a:t>
            </a:r>
            <a:br/>
            <a:r>
              <a:t>increases, micro-</a:t>
            </a:r>
            <a:br/>
            <a:r>
              <a:t>vibrations start.</a:t>
            </a:r>
          </a:p>
        </p:txBody>
      </p:sp>
      <p:sp>
        <p:nvSpPr>
          <p:cNvPr id="9" name="TextBox 8"/>
          <p:cNvSpPr txBox="1"/>
          <p:nvPr/>
        </p:nvSpPr>
        <p:spPr>
          <a:xfrm>
            <a:off x="7132320" y="1828800"/>
            <a:ext cx="2103120" cy="1005840"/>
          </a:xfrm>
          <a:prstGeom prst="rect">
            <a:avLst/>
          </a:prstGeom>
          <a:noFill/>
        </p:spPr>
        <p:txBody>
          <a:bodyPr wrap="square">
            <a:spAutoFit/>
          </a:bodyPr>
          <a:lstStyle/>
          <a:p>
            <a:pPr>
              <a:defRPr sz="1050" b="1">
                <a:solidFill>
                  <a:srgbClr val="EF4444"/>
                </a:solidFill>
              </a:defRPr>
            </a:pPr>
            <a:r>
              <a:t>T-Minus 1 min</a:t>
            </a:r>
          </a:p>
          <a:p>
            <a:pPr>
              <a:defRPr sz="850">
                <a:solidFill>
                  <a:srgbClr val="94A3B8"/>
                </a:solidFill>
              </a:defRPr>
            </a:pPr>
            <a:r>
              <a:t>Current GCS static,</a:t>
            </a:r>
            <a:br/>
            <a:r>
              <a:t>threshold-based alarm</a:t>
            </a:r>
            <a:br/>
            <a:r>
              <a:t>finally fires.</a:t>
            </a:r>
          </a:p>
        </p:txBody>
      </p:sp>
      <p:sp>
        <p:nvSpPr>
          <p:cNvPr id="10" name="TextBox 9"/>
          <p:cNvSpPr txBox="1"/>
          <p:nvPr/>
        </p:nvSpPr>
        <p:spPr>
          <a:xfrm>
            <a:off x="9326880" y="2834640"/>
            <a:ext cx="2103120" cy="1005840"/>
          </a:xfrm>
          <a:prstGeom prst="rect">
            <a:avLst/>
          </a:prstGeom>
          <a:noFill/>
        </p:spPr>
        <p:txBody>
          <a:bodyPr wrap="square">
            <a:spAutoFit/>
          </a:bodyPr>
          <a:lstStyle/>
          <a:p>
            <a:pPr>
              <a:defRPr sz="1050" b="1">
                <a:solidFill>
                  <a:srgbClr val="EF4444"/>
                </a:solidFill>
              </a:defRPr>
            </a:pPr>
            <a:r>
              <a:t>T-Zero</a:t>
            </a:r>
          </a:p>
          <a:p>
            <a:pPr>
              <a:defRPr sz="850">
                <a:solidFill>
                  <a:srgbClr val="94A3B8"/>
                </a:solidFill>
              </a:defRPr>
            </a:pPr>
            <a:r>
              <a:t>Irreversible</a:t>
            </a:r>
            <a:br/>
            <a:r>
              <a:t>engine seizure.</a:t>
            </a:r>
          </a:p>
        </p:txBody>
      </p:sp>
      <p:sp>
        <p:nvSpPr>
          <p:cNvPr id="11" name="Rounded Rectangle 10"/>
          <p:cNvSpPr/>
          <p:nvPr/>
        </p:nvSpPr>
        <p:spPr>
          <a:xfrm>
            <a:off x="731520" y="4846320"/>
            <a:ext cx="3383280" cy="155448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83480"/>
            <a:ext cx="3108960" cy="1280160"/>
          </a:xfrm>
          <a:prstGeom prst="rect">
            <a:avLst/>
          </a:prstGeom>
          <a:noFill/>
        </p:spPr>
        <p:txBody>
          <a:bodyPr wrap="square">
            <a:spAutoFit/>
          </a:bodyPr>
          <a:lstStyle/>
          <a:p>
            <a:pPr>
              <a:defRPr sz="1000">
                <a:solidFill>
                  <a:srgbClr val="F1F5F9"/>
                </a:solidFill>
              </a:defRPr>
            </a:pPr>
            <a:r>
              <a:t>Current systems rely on static thresholds that trigger only after irreversible damage has occurred.</a:t>
            </a:r>
          </a:p>
        </p:txBody>
      </p:sp>
      <p:sp>
        <p:nvSpPr>
          <p:cNvPr id="13" name="Rounded Rectangle 12"/>
          <p:cNvSpPr/>
          <p:nvPr/>
        </p:nvSpPr>
        <p:spPr>
          <a:xfrm>
            <a:off x="4389120" y="4846320"/>
            <a:ext cx="3383280" cy="1554480"/>
          </a:xfrm>
          <a:prstGeom prst="roundRect">
            <a:avLst/>
          </a:prstGeom>
          <a:solidFill>
            <a:srgbClr val="0D142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4983480"/>
            <a:ext cx="3108960" cy="1280160"/>
          </a:xfrm>
          <a:prstGeom prst="rect">
            <a:avLst/>
          </a:prstGeom>
          <a:noFill/>
        </p:spPr>
        <p:txBody>
          <a:bodyPr wrap="square">
            <a:spAutoFit/>
          </a:bodyPr>
          <a:lstStyle/>
          <a:p>
            <a:pPr>
              <a:defRPr sz="1000">
                <a:solidFill>
                  <a:srgbClr val="F1F5F9"/>
                </a:solidFill>
              </a:defRPr>
            </a:pPr>
            <a:r>
              <a:t>This late detection creates high operator fatigue and provides zero predictive foresight.</a:t>
            </a:r>
          </a:p>
        </p:txBody>
      </p:sp>
      <p:sp>
        <p:nvSpPr>
          <p:cNvPr id="15" name="Rounded Rectangle 14"/>
          <p:cNvSpPr/>
          <p:nvPr/>
        </p:nvSpPr>
        <p:spPr>
          <a:xfrm>
            <a:off x="8046720" y="4846320"/>
            <a:ext cx="3383280" cy="1554480"/>
          </a:xfrm>
          <a:prstGeom prst="roundRect">
            <a:avLst/>
          </a:prstGeom>
          <a:solidFill>
            <a:srgbClr val="0D1424"/>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4983480"/>
            <a:ext cx="3108960" cy="1280160"/>
          </a:xfrm>
          <a:prstGeom prst="rect">
            <a:avLst/>
          </a:prstGeom>
          <a:noFill/>
        </p:spPr>
        <p:txBody>
          <a:bodyPr wrap="square">
            <a:spAutoFit/>
          </a:bodyPr>
          <a:lstStyle/>
          <a:p>
            <a:pPr>
              <a:defRPr sz="1000">
                <a:solidFill>
                  <a:srgbClr val="F1F5F9"/>
                </a:solidFill>
              </a:defRPr>
            </a:pPr>
            <a:r>
              <a:t>The outcome is guaranteed: passive monitoring leads directly to asset loss.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Introducing AeroGuard: A physics-informed, autonomous predictive engine</a:t>
            </a:r>
          </a:p>
        </p:txBody>
      </p:sp>
      <p:pic>
        <p:nvPicPr>
          <p:cNvPr id="4" name="Picture 3" descr="aeroguard_engine_cutaway_1788207456984.jpg"/>
          <p:cNvPicPr>
            <a:picLocks noChangeAspect="1"/>
          </p:cNvPicPr>
          <p:nvPr/>
        </p:nvPicPr>
        <p:blipFill>
          <a:blip r:embed="rId2"/>
          <a:stretch>
            <a:fillRect/>
          </a:stretch>
        </p:blipFill>
        <p:spPr>
          <a:xfrm>
            <a:off x="3749039" y="1371600"/>
            <a:ext cx="4663440" cy="2602850"/>
          </a:xfrm>
          <a:prstGeom prst="rect">
            <a:avLst/>
          </a:prstGeom>
        </p:spPr>
      </p:pic>
      <p:sp>
        <p:nvSpPr>
          <p:cNvPr id="5" name="Rounded Rectangle 4"/>
          <p:cNvSpPr/>
          <p:nvPr/>
        </p:nvSpPr>
        <p:spPr>
          <a:xfrm>
            <a:off x="731520" y="1371600"/>
            <a:ext cx="2834640" cy="228600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2560320" cy="1920240"/>
          </a:xfrm>
          <a:prstGeom prst="rect">
            <a:avLst/>
          </a:prstGeom>
          <a:noFill/>
        </p:spPr>
        <p:txBody>
          <a:bodyPr wrap="square">
            <a:spAutoFit/>
          </a:bodyPr>
          <a:lstStyle/>
          <a:p>
            <a:pPr>
              <a:spcAft>
                <a:spcPts val="800"/>
              </a:spcAft>
              <a:defRPr sz="1600" b="1">
                <a:solidFill>
                  <a:srgbClr val="00E5FF"/>
                </a:solidFill>
              </a:defRPr>
            </a:pPr>
            <a:r>
              <a:t>Stream</a:t>
            </a:r>
          </a:p>
          <a:p>
            <a:pPr>
              <a:defRPr sz="1000">
                <a:solidFill>
                  <a:srgbClr val="94A3B8"/>
                </a:solidFill>
              </a:defRPr>
            </a:pPr>
            <a:r>
              <a:t>Ingests high-frequency CAN-bus telemetry directly from the physical edge.</a:t>
            </a:r>
          </a:p>
        </p:txBody>
      </p:sp>
      <p:sp>
        <p:nvSpPr>
          <p:cNvPr id="7" name="Rounded Rectangle 6"/>
          <p:cNvSpPr/>
          <p:nvPr/>
        </p:nvSpPr>
        <p:spPr>
          <a:xfrm>
            <a:off x="8595360" y="1371600"/>
            <a:ext cx="2834640" cy="2286000"/>
          </a:xfrm>
          <a:prstGeom prst="roundRect">
            <a:avLst/>
          </a:prstGeom>
          <a:solidFill>
            <a:srgbClr val="0D142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32520" y="1554480"/>
            <a:ext cx="2560320" cy="1920240"/>
          </a:xfrm>
          <a:prstGeom prst="rect">
            <a:avLst/>
          </a:prstGeom>
          <a:noFill/>
        </p:spPr>
        <p:txBody>
          <a:bodyPr wrap="square">
            <a:spAutoFit/>
          </a:bodyPr>
          <a:lstStyle/>
          <a:p>
            <a:pPr>
              <a:spcAft>
                <a:spcPts val="800"/>
              </a:spcAft>
              <a:defRPr sz="1600" b="1">
                <a:solidFill>
                  <a:srgbClr val="F59E0B"/>
                </a:solidFill>
              </a:defRPr>
            </a:pPr>
            <a:r>
              <a:t>Detect</a:t>
            </a:r>
          </a:p>
          <a:p>
            <a:pPr>
              <a:defRPr sz="1000">
                <a:solidFill>
                  <a:srgbClr val="94A3B8"/>
                </a:solidFill>
              </a:defRPr>
            </a:pPr>
            <a:r>
              <a:t>Identifies sub-surface physics deviations long before static thresholds are breached.</a:t>
            </a:r>
          </a:p>
        </p:txBody>
      </p:sp>
      <p:sp>
        <p:nvSpPr>
          <p:cNvPr id="9" name="Rounded Rectangle 8"/>
          <p:cNvSpPr/>
          <p:nvPr/>
        </p:nvSpPr>
        <p:spPr>
          <a:xfrm>
            <a:off x="731520" y="4023360"/>
            <a:ext cx="2834640" cy="2286000"/>
          </a:xfrm>
          <a:prstGeom prst="roundRect">
            <a:avLst/>
          </a:prstGeom>
          <a:solidFill>
            <a:srgbClr val="0D1424"/>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06240"/>
            <a:ext cx="2560320" cy="1920240"/>
          </a:xfrm>
          <a:prstGeom prst="rect">
            <a:avLst/>
          </a:prstGeom>
          <a:noFill/>
        </p:spPr>
        <p:txBody>
          <a:bodyPr wrap="square">
            <a:spAutoFit/>
          </a:bodyPr>
          <a:lstStyle/>
          <a:p>
            <a:pPr>
              <a:spcAft>
                <a:spcPts val="800"/>
              </a:spcAft>
              <a:defRPr sz="1600" b="1">
                <a:solidFill>
                  <a:srgbClr val="A855F7"/>
                </a:solidFill>
              </a:defRPr>
            </a:pPr>
            <a:r>
              <a:t>Predict</a:t>
            </a:r>
          </a:p>
          <a:p>
            <a:pPr>
              <a:defRPr sz="1000">
                <a:solidFill>
                  <a:srgbClr val="94A3B8"/>
                </a:solidFill>
              </a:defRPr>
            </a:pPr>
            <a:r>
              <a:t>Calculates exact Remaining Useful Life (RUL) in minutes using deep learning.</a:t>
            </a:r>
          </a:p>
        </p:txBody>
      </p:sp>
      <p:sp>
        <p:nvSpPr>
          <p:cNvPr id="11" name="Rounded Rectangle 10"/>
          <p:cNvSpPr/>
          <p:nvPr/>
        </p:nvSpPr>
        <p:spPr>
          <a:xfrm>
            <a:off x="8595360" y="4023360"/>
            <a:ext cx="2834640" cy="2286000"/>
          </a:xfrm>
          <a:prstGeom prst="roundRect">
            <a:avLst/>
          </a:prstGeom>
          <a:solidFill>
            <a:srgbClr val="0D142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4206240"/>
            <a:ext cx="2560320" cy="1920240"/>
          </a:xfrm>
          <a:prstGeom prst="rect">
            <a:avLst/>
          </a:prstGeom>
          <a:noFill/>
        </p:spPr>
        <p:txBody>
          <a:bodyPr wrap="square">
            <a:spAutoFit/>
          </a:bodyPr>
          <a:lstStyle/>
          <a:p>
            <a:pPr>
              <a:spcAft>
                <a:spcPts val="800"/>
              </a:spcAft>
              <a:defRPr sz="1600" b="1">
                <a:solidFill>
                  <a:srgbClr val="10B981"/>
                </a:solidFill>
              </a:defRPr>
            </a:pPr>
            <a:r>
              <a:t>Act</a:t>
            </a:r>
          </a:p>
          <a:p>
            <a:pPr>
              <a:defRPr sz="1000">
                <a:solidFill>
                  <a:srgbClr val="94A3B8"/>
                </a:solidFill>
              </a:defRPr>
            </a:pPr>
            <a:r>
              <a:t>Autonomously dispatches mission-saving corrective flight directives to the autopilot.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Shifting from passive analytics to active, physics-anchored survival.</a:t>
            </a:r>
          </a:p>
        </p:txBody>
      </p:sp>
      <p:sp>
        <p:nvSpPr>
          <p:cNvPr id="4" name="Rounded Rectangle 3"/>
          <p:cNvSpPr/>
          <p:nvPr/>
        </p:nvSpPr>
        <p:spPr>
          <a:xfrm>
            <a:off x="731520" y="1280160"/>
            <a:ext cx="10698480" cy="502920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3200400" cy="365760"/>
          </a:xfrm>
          <a:prstGeom prst="rect">
            <a:avLst/>
          </a:prstGeom>
          <a:noFill/>
        </p:spPr>
        <p:txBody>
          <a:bodyPr wrap="none">
            <a:spAutoFit/>
          </a:bodyPr>
          <a:lstStyle/>
          <a:p>
            <a:pPr>
              <a:defRPr sz="1200" b="1">
                <a:solidFill>
                  <a:srgbClr val="F1F5F9"/>
                </a:solidFill>
              </a:defRPr>
            </a:pPr>
            <a:r>
              <a:t>FEATURE DIMENSION</a:t>
            </a:r>
          </a:p>
        </p:txBody>
      </p:sp>
      <p:sp>
        <p:nvSpPr>
          <p:cNvPr id="6" name="TextBox 5"/>
          <p:cNvSpPr txBox="1"/>
          <p:nvPr/>
        </p:nvSpPr>
        <p:spPr>
          <a:xfrm>
            <a:off x="4114800" y="1463040"/>
            <a:ext cx="3383280" cy="365760"/>
          </a:xfrm>
          <a:prstGeom prst="rect">
            <a:avLst/>
          </a:prstGeom>
          <a:noFill/>
        </p:spPr>
        <p:txBody>
          <a:bodyPr wrap="none">
            <a:spAutoFit/>
          </a:bodyPr>
          <a:lstStyle/>
          <a:p>
            <a:pPr>
              <a:defRPr sz="1200" b="1">
                <a:solidFill>
                  <a:srgbClr val="94A3B8"/>
                </a:solidFill>
              </a:defRPr>
            </a:pPr>
            <a:r>
              <a:t>LEGACY GCS</a:t>
            </a:r>
          </a:p>
        </p:txBody>
      </p:sp>
      <p:sp>
        <p:nvSpPr>
          <p:cNvPr id="7" name="TextBox 6"/>
          <p:cNvSpPr txBox="1"/>
          <p:nvPr/>
        </p:nvSpPr>
        <p:spPr>
          <a:xfrm>
            <a:off x="7498079" y="1463040"/>
            <a:ext cx="4114800" cy="365760"/>
          </a:xfrm>
          <a:prstGeom prst="rect">
            <a:avLst/>
          </a:prstGeom>
          <a:noFill/>
        </p:spPr>
        <p:txBody>
          <a:bodyPr wrap="none">
            <a:spAutoFit/>
          </a:bodyPr>
          <a:lstStyle/>
          <a:p>
            <a:pPr>
              <a:defRPr sz="1200" b="1">
                <a:solidFill>
                  <a:srgbClr val="00E5FF"/>
                </a:solidFill>
              </a:defRPr>
            </a:pPr>
            <a:r>
              <a:t>PROJECT AEROGUARD</a:t>
            </a:r>
          </a:p>
        </p:txBody>
      </p:sp>
      <p:sp>
        <p:nvSpPr>
          <p:cNvPr id="8" name="TextBox 7"/>
          <p:cNvSpPr txBox="1"/>
          <p:nvPr/>
        </p:nvSpPr>
        <p:spPr>
          <a:xfrm>
            <a:off x="914400" y="2194560"/>
            <a:ext cx="2926080" cy="914400"/>
          </a:xfrm>
          <a:prstGeom prst="rect">
            <a:avLst/>
          </a:prstGeom>
          <a:noFill/>
        </p:spPr>
        <p:txBody>
          <a:bodyPr wrap="square">
            <a:spAutoFit/>
          </a:bodyPr>
          <a:lstStyle/>
          <a:p>
            <a:pPr>
              <a:defRPr sz="1100" b="1">
                <a:solidFill>
                  <a:srgbClr val="F1F5F9"/>
                </a:solidFill>
              </a:defRPr>
            </a:pPr>
            <a:r>
              <a:t>Anomaly Detection</a:t>
            </a:r>
          </a:p>
        </p:txBody>
      </p:sp>
      <p:sp>
        <p:nvSpPr>
          <p:cNvPr id="9" name="TextBox 8"/>
          <p:cNvSpPr txBox="1"/>
          <p:nvPr/>
        </p:nvSpPr>
        <p:spPr>
          <a:xfrm>
            <a:off x="4114800" y="2194560"/>
            <a:ext cx="3017520" cy="914400"/>
          </a:xfrm>
          <a:prstGeom prst="rect">
            <a:avLst/>
          </a:prstGeom>
          <a:noFill/>
        </p:spPr>
        <p:txBody>
          <a:bodyPr wrap="square">
            <a:spAutoFit/>
          </a:bodyPr>
          <a:lstStyle/>
          <a:p>
            <a:pPr>
              <a:defRPr sz="1000">
                <a:solidFill>
                  <a:srgbClr val="94A3B8"/>
                </a:solidFill>
              </a:defRPr>
            </a:pPr>
            <a:r>
              <a:t>Threshold-based (Late)</a:t>
            </a:r>
          </a:p>
        </p:txBody>
      </p:sp>
      <p:sp>
        <p:nvSpPr>
          <p:cNvPr id="10" name="Rounded Rectangle 9"/>
          <p:cNvSpPr/>
          <p:nvPr/>
        </p:nvSpPr>
        <p:spPr>
          <a:xfrm>
            <a:off x="7315200" y="2103120"/>
            <a:ext cx="3931920" cy="868680"/>
          </a:xfrm>
          <a:prstGeom prst="roundRect">
            <a:avLst/>
          </a:prstGeom>
          <a:solidFill>
            <a:srgbClr val="121E38"/>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2148840"/>
            <a:ext cx="3657600" cy="777240"/>
          </a:xfrm>
          <a:prstGeom prst="rect">
            <a:avLst/>
          </a:prstGeom>
          <a:noFill/>
        </p:spPr>
        <p:txBody>
          <a:bodyPr wrap="square">
            <a:spAutoFit/>
          </a:bodyPr>
          <a:lstStyle/>
          <a:p>
            <a:pPr>
              <a:defRPr sz="1000" b="1">
                <a:solidFill>
                  <a:srgbClr val="00E5FF"/>
                </a:solidFill>
              </a:defRPr>
            </a:pPr>
            <a:r>
              <a:t>Physics-Informed Residuals (Predictive)</a:t>
            </a:r>
          </a:p>
        </p:txBody>
      </p:sp>
      <p:sp>
        <p:nvSpPr>
          <p:cNvPr id="12" name="TextBox 11"/>
          <p:cNvSpPr txBox="1"/>
          <p:nvPr/>
        </p:nvSpPr>
        <p:spPr>
          <a:xfrm>
            <a:off x="914400" y="3246120"/>
            <a:ext cx="2926080" cy="914400"/>
          </a:xfrm>
          <a:prstGeom prst="rect">
            <a:avLst/>
          </a:prstGeom>
          <a:noFill/>
        </p:spPr>
        <p:txBody>
          <a:bodyPr wrap="square">
            <a:spAutoFit/>
          </a:bodyPr>
          <a:lstStyle/>
          <a:p>
            <a:pPr>
              <a:defRPr sz="1100" b="1">
                <a:solidFill>
                  <a:srgbClr val="F1F5F9"/>
                </a:solidFill>
              </a:defRPr>
            </a:pPr>
            <a:r>
              <a:t>Actionability</a:t>
            </a:r>
          </a:p>
        </p:txBody>
      </p:sp>
      <p:sp>
        <p:nvSpPr>
          <p:cNvPr id="13" name="TextBox 12"/>
          <p:cNvSpPr txBox="1"/>
          <p:nvPr/>
        </p:nvSpPr>
        <p:spPr>
          <a:xfrm>
            <a:off x="4114800" y="3246120"/>
            <a:ext cx="3017520" cy="914400"/>
          </a:xfrm>
          <a:prstGeom prst="rect">
            <a:avLst/>
          </a:prstGeom>
          <a:noFill/>
        </p:spPr>
        <p:txBody>
          <a:bodyPr wrap="square">
            <a:spAutoFit/>
          </a:bodyPr>
          <a:lstStyle/>
          <a:p>
            <a:pPr>
              <a:defRPr sz="1000">
                <a:solidFill>
                  <a:srgbClr val="94A3B8"/>
                </a:solidFill>
              </a:defRPr>
            </a:pPr>
            <a:r>
              <a:t>Passive Warning Alarms</a:t>
            </a:r>
          </a:p>
        </p:txBody>
      </p:sp>
      <p:sp>
        <p:nvSpPr>
          <p:cNvPr id="14" name="Rounded Rectangle 13"/>
          <p:cNvSpPr/>
          <p:nvPr/>
        </p:nvSpPr>
        <p:spPr>
          <a:xfrm>
            <a:off x="7315200" y="3154679"/>
            <a:ext cx="3931920" cy="868680"/>
          </a:xfrm>
          <a:prstGeom prst="roundRect">
            <a:avLst/>
          </a:prstGeom>
          <a:solidFill>
            <a:srgbClr val="121E38"/>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3200400"/>
            <a:ext cx="3657600" cy="777240"/>
          </a:xfrm>
          <a:prstGeom prst="rect">
            <a:avLst/>
          </a:prstGeom>
          <a:noFill/>
        </p:spPr>
        <p:txBody>
          <a:bodyPr wrap="square">
            <a:spAutoFit/>
          </a:bodyPr>
          <a:lstStyle/>
          <a:p>
            <a:pPr>
              <a:defRPr sz="1000" b="1">
                <a:solidFill>
                  <a:srgbClr val="00E5FF"/>
                </a:solidFill>
              </a:defRPr>
            </a:pPr>
            <a:r>
              <a:t>Active Autonomous Co-Pilot (Throttle de-rates)</a:t>
            </a:r>
          </a:p>
        </p:txBody>
      </p:sp>
      <p:sp>
        <p:nvSpPr>
          <p:cNvPr id="16" name="TextBox 15"/>
          <p:cNvSpPr txBox="1"/>
          <p:nvPr/>
        </p:nvSpPr>
        <p:spPr>
          <a:xfrm>
            <a:off x="914400" y="4297679"/>
            <a:ext cx="2926080" cy="914400"/>
          </a:xfrm>
          <a:prstGeom prst="rect">
            <a:avLst/>
          </a:prstGeom>
          <a:noFill/>
        </p:spPr>
        <p:txBody>
          <a:bodyPr wrap="square">
            <a:spAutoFit/>
          </a:bodyPr>
          <a:lstStyle/>
          <a:p>
            <a:pPr>
              <a:defRPr sz="1100" b="1">
                <a:solidFill>
                  <a:srgbClr val="F1F5F9"/>
                </a:solidFill>
              </a:defRPr>
            </a:pPr>
            <a:r>
              <a:t>System Reliability</a:t>
            </a:r>
          </a:p>
        </p:txBody>
      </p:sp>
      <p:sp>
        <p:nvSpPr>
          <p:cNvPr id="17" name="TextBox 16"/>
          <p:cNvSpPr txBox="1"/>
          <p:nvPr/>
        </p:nvSpPr>
        <p:spPr>
          <a:xfrm>
            <a:off x="4114800" y="4297679"/>
            <a:ext cx="3017520" cy="914400"/>
          </a:xfrm>
          <a:prstGeom prst="rect">
            <a:avLst/>
          </a:prstGeom>
          <a:noFill/>
        </p:spPr>
        <p:txBody>
          <a:bodyPr wrap="square">
            <a:spAutoFit/>
          </a:bodyPr>
          <a:lstStyle/>
          <a:p>
            <a:pPr>
              <a:defRPr sz="1000">
                <a:solidFill>
                  <a:srgbClr val="94A3B8"/>
                </a:solidFill>
              </a:defRPr>
            </a:pPr>
            <a:r>
              <a:t>Vulnerable to False Positives</a:t>
            </a:r>
          </a:p>
        </p:txBody>
      </p:sp>
      <p:sp>
        <p:nvSpPr>
          <p:cNvPr id="18" name="Rounded Rectangle 17"/>
          <p:cNvSpPr/>
          <p:nvPr/>
        </p:nvSpPr>
        <p:spPr>
          <a:xfrm>
            <a:off x="7315200" y="4206240"/>
            <a:ext cx="3931920" cy="868680"/>
          </a:xfrm>
          <a:prstGeom prst="roundRect">
            <a:avLst/>
          </a:prstGeom>
          <a:solidFill>
            <a:srgbClr val="121E38"/>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251959"/>
            <a:ext cx="3657600" cy="777240"/>
          </a:xfrm>
          <a:prstGeom prst="rect">
            <a:avLst/>
          </a:prstGeom>
          <a:noFill/>
        </p:spPr>
        <p:txBody>
          <a:bodyPr wrap="square">
            <a:spAutoFit/>
          </a:bodyPr>
          <a:lstStyle/>
          <a:p>
            <a:pPr>
              <a:defRPr sz="1000" b="1">
                <a:solidFill>
                  <a:srgbClr val="00E5FF"/>
                </a:solidFill>
              </a:defRPr>
            </a:pPr>
            <a:r>
              <a:t>Hybrid Twin (AI anchored to 1D thermodynamics to prevent hallucinations)</a:t>
            </a:r>
          </a:p>
        </p:txBody>
      </p:sp>
      <p:sp>
        <p:nvSpPr>
          <p:cNvPr id="20" name="TextBox 19"/>
          <p:cNvSpPr txBox="1"/>
          <p:nvPr/>
        </p:nvSpPr>
        <p:spPr>
          <a:xfrm>
            <a:off x="914400" y="5349240"/>
            <a:ext cx="2926080" cy="914400"/>
          </a:xfrm>
          <a:prstGeom prst="rect">
            <a:avLst/>
          </a:prstGeom>
          <a:noFill/>
        </p:spPr>
        <p:txBody>
          <a:bodyPr wrap="square">
            <a:spAutoFit/>
          </a:bodyPr>
          <a:lstStyle/>
          <a:p>
            <a:pPr>
              <a:defRPr sz="1100" b="1">
                <a:solidFill>
                  <a:srgbClr val="F1F5F9"/>
                </a:solidFill>
              </a:defRPr>
            </a:pPr>
            <a:r>
              <a:t>Compute Footprint</a:t>
            </a:r>
          </a:p>
        </p:txBody>
      </p:sp>
      <p:sp>
        <p:nvSpPr>
          <p:cNvPr id="21" name="TextBox 20"/>
          <p:cNvSpPr txBox="1"/>
          <p:nvPr/>
        </p:nvSpPr>
        <p:spPr>
          <a:xfrm>
            <a:off x="4114800" y="5349240"/>
            <a:ext cx="3017520" cy="914400"/>
          </a:xfrm>
          <a:prstGeom prst="rect">
            <a:avLst/>
          </a:prstGeom>
          <a:noFill/>
        </p:spPr>
        <p:txBody>
          <a:bodyPr wrap="square">
            <a:spAutoFit/>
          </a:bodyPr>
          <a:lstStyle/>
          <a:p>
            <a:pPr>
              <a:defRPr sz="1000">
                <a:solidFill>
                  <a:srgbClr val="94A3B8"/>
                </a:solidFill>
              </a:defRPr>
            </a:pPr>
            <a:r>
              <a:t>Heavy / Cloud-dependent</a:t>
            </a:r>
          </a:p>
        </p:txBody>
      </p:sp>
      <p:sp>
        <p:nvSpPr>
          <p:cNvPr id="22" name="Rounded Rectangle 21"/>
          <p:cNvSpPr/>
          <p:nvPr/>
        </p:nvSpPr>
        <p:spPr>
          <a:xfrm>
            <a:off x="7315200" y="5257800"/>
            <a:ext cx="3931920" cy="868680"/>
          </a:xfrm>
          <a:prstGeom prst="roundRect">
            <a:avLst/>
          </a:prstGeom>
          <a:solidFill>
            <a:srgbClr val="121E38"/>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5303520"/>
            <a:ext cx="3657600" cy="777240"/>
          </a:xfrm>
          <a:prstGeom prst="rect">
            <a:avLst/>
          </a:prstGeom>
          <a:noFill/>
        </p:spPr>
        <p:txBody>
          <a:bodyPr wrap="square">
            <a:spAutoFit/>
          </a:bodyPr>
          <a:lstStyle/>
          <a:p>
            <a:pPr>
              <a:defRPr sz="1000" b="1">
                <a:solidFill>
                  <a:srgbClr val="00E5FF"/>
                </a:solidFill>
              </a:defRPr>
            </a:pPr>
            <a:r>
              <a:t>Sub-50ms Offline Tactical Edge (e.g., NVIDIA Jetson / Avionics)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The System Architecture: From mechanical vibration to tactical command in under 50 milliseconds.</a:t>
            </a:r>
          </a:p>
        </p:txBody>
      </p:sp>
      <p:sp>
        <p:nvSpPr>
          <p:cNvPr id="4" name="Rounded Rectangle 3"/>
          <p:cNvSpPr/>
          <p:nvPr/>
        </p:nvSpPr>
        <p:spPr>
          <a:xfrm>
            <a:off x="731520" y="1463040"/>
            <a:ext cx="2560320" cy="475488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2286000" cy="4389120"/>
          </a:xfrm>
          <a:prstGeom prst="rect">
            <a:avLst/>
          </a:prstGeom>
          <a:noFill/>
        </p:spPr>
        <p:txBody>
          <a:bodyPr wrap="square">
            <a:spAutoFit/>
          </a:bodyPr>
          <a:lstStyle/>
          <a:p>
            <a:pPr>
              <a:spcAft>
                <a:spcPts val="600"/>
              </a:spcAft>
              <a:defRPr sz="1150" b="1">
                <a:solidFill>
                  <a:srgbClr val="00E5FF"/>
                </a:solidFill>
              </a:defRPr>
            </a:pPr>
            <a:r>
              <a:t>Layer 1: Edge Telemetry Ingestion</a:t>
            </a:r>
          </a:p>
          <a:p>
            <a:pPr>
              <a:spcAft>
                <a:spcPts val="1200"/>
              </a:spcAft>
              <a:defRPr sz="950" b="1">
                <a:solidFill>
                  <a:srgbClr val="F1F5F9"/>
                </a:solidFill>
              </a:defRPr>
            </a:pPr>
            <a:r>
              <a:t>5Hz CAN-Bus / ARINC-429 Streaming</a:t>
            </a:r>
          </a:p>
          <a:p>
            <a:pPr>
              <a:defRPr sz="900">
                <a:solidFill>
                  <a:srgbClr val="94A3B8"/>
                </a:solidFill>
              </a:defRPr>
            </a:pPr>
            <a:r>
              <a:t>High-frequency frame parser, 100ms Euler integration loop</a:t>
            </a:r>
          </a:p>
        </p:txBody>
      </p:sp>
      <p:sp>
        <p:nvSpPr>
          <p:cNvPr id="6" name="Rounded Rectangle 5"/>
          <p:cNvSpPr/>
          <p:nvPr/>
        </p:nvSpPr>
        <p:spPr>
          <a:xfrm>
            <a:off x="3429000" y="1463040"/>
            <a:ext cx="2560320" cy="4754880"/>
          </a:xfrm>
          <a:prstGeom prst="roundRect">
            <a:avLst/>
          </a:prstGeom>
          <a:solidFill>
            <a:srgbClr val="0D1424"/>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45920"/>
            <a:ext cx="2286000" cy="4389120"/>
          </a:xfrm>
          <a:prstGeom prst="rect">
            <a:avLst/>
          </a:prstGeom>
          <a:noFill/>
        </p:spPr>
        <p:txBody>
          <a:bodyPr wrap="square">
            <a:spAutoFit/>
          </a:bodyPr>
          <a:lstStyle/>
          <a:p>
            <a:pPr>
              <a:spcAft>
                <a:spcPts val="600"/>
              </a:spcAft>
              <a:defRPr sz="1150" b="1">
                <a:solidFill>
                  <a:srgbClr val="A855F7"/>
                </a:solidFill>
              </a:defRPr>
            </a:pPr>
            <a:r>
              <a:t>Layer 2: Hybrid AI/Physics Core</a:t>
            </a:r>
          </a:p>
          <a:p>
            <a:pPr>
              <a:spcAft>
                <a:spcPts val="1200"/>
              </a:spcAft>
              <a:defRPr sz="950" b="1">
                <a:solidFill>
                  <a:srgbClr val="F1F5F9"/>
                </a:solidFill>
              </a:defRPr>
            </a:pPr>
            <a:r>
              <a:t>1D Thermo + Deep Learning LSTM</a:t>
            </a:r>
          </a:p>
          <a:p>
            <a:pPr>
              <a:defRPr sz="900">
                <a:solidFill>
                  <a:srgbClr val="94A3B8"/>
                </a:solidFill>
              </a:defRPr>
            </a:pPr>
            <a:r>
              <a:t>Otto cycle baseline + 2-layer BiLSTM RUL prediction model</a:t>
            </a:r>
          </a:p>
        </p:txBody>
      </p:sp>
      <p:sp>
        <p:nvSpPr>
          <p:cNvPr id="8" name="Rounded Rectangle 7"/>
          <p:cNvSpPr/>
          <p:nvPr/>
        </p:nvSpPr>
        <p:spPr>
          <a:xfrm>
            <a:off x="6126480" y="1463040"/>
            <a:ext cx="2560320" cy="4754880"/>
          </a:xfrm>
          <a:prstGeom prst="roundRect">
            <a:avLst/>
          </a:prstGeom>
          <a:solidFill>
            <a:srgbClr val="0D142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45920"/>
            <a:ext cx="2286000" cy="4389120"/>
          </a:xfrm>
          <a:prstGeom prst="rect">
            <a:avLst/>
          </a:prstGeom>
          <a:noFill/>
        </p:spPr>
        <p:txBody>
          <a:bodyPr wrap="square">
            <a:spAutoFit/>
          </a:bodyPr>
          <a:lstStyle/>
          <a:p>
            <a:pPr>
              <a:spcAft>
                <a:spcPts val="600"/>
              </a:spcAft>
              <a:defRPr sz="1150" b="1">
                <a:solidFill>
                  <a:srgbClr val="F59E0B"/>
                </a:solidFill>
              </a:defRPr>
            </a:pPr>
            <a:r>
              <a:t>Layer 3: Autonomous Advisory Agent</a:t>
            </a:r>
          </a:p>
          <a:p>
            <a:pPr>
              <a:spcAft>
                <a:spcPts val="1200"/>
              </a:spcAft>
              <a:defRPr sz="950" b="1">
                <a:solidFill>
                  <a:srgbClr val="F1F5F9"/>
                </a:solidFill>
              </a:defRPr>
            </a:pPr>
            <a:r>
              <a:t>Explainable AI Rules-of-Engagement</a:t>
            </a:r>
          </a:p>
          <a:p>
            <a:pPr>
              <a:defRPr sz="900">
                <a:solidFill>
                  <a:srgbClr val="94A3B8"/>
                </a:solidFill>
              </a:defRPr>
            </a:pPr>
            <a:r>
              <a:t>Target FCS Directives, dynamic throttle limits &amp; XAI audit trail</a:t>
            </a:r>
          </a:p>
        </p:txBody>
      </p:sp>
      <p:sp>
        <p:nvSpPr>
          <p:cNvPr id="10" name="Rounded Rectangle 9"/>
          <p:cNvSpPr/>
          <p:nvPr/>
        </p:nvSpPr>
        <p:spPr>
          <a:xfrm>
            <a:off x="8823960" y="1463040"/>
            <a:ext cx="2560320" cy="4754880"/>
          </a:xfrm>
          <a:prstGeom prst="roundRect">
            <a:avLst/>
          </a:prstGeom>
          <a:solidFill>
            <a:srgbClr val="0D142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645920"/>
            <a:ext cx="2286000" cy="4389120"/>
          </a:xfrm>
          <a:prstGeom prst="rect">
            <a:avLst/>
          </a:prstGeom>
          <a:noFill/>
        </p:spPr>
        <p:txBody>
          <a:bodyPr wrap="square">
            <a:spAutoFit/>
          </a:bodyPr>
          <a:lstStyle/>
          <a:p>
            <a:pPr>
              <a:spcAft>
                <a:spcPts val="600"/>
              </a:spcAft>
              <a:defRPr sz="1150" b="1">
                <a:solidFill>
                  <a:srgbClr val="10B981"/>
                </a:solidFill>
              </a:defRPr>
            </a:pPr>
            <a:r>
              <a:t>Layer 4: Tactical GCS Dashboard</a:t>
            </a:r>
          </a:p>
          <a:p>
            <a:pPr>
              <a:spcAft>
                <a:spcPts val="1200"/>
              </a:spcAft>
              <a:defRPr sz="950" b="1">
                <a:solidFill>
                  <a:srgbClr val="F1F5F9"/>
                </a:solidFill>
              </a:defRPr>
            </a:pPr>
            <a:r>
              <a:t>Next.js/Tailwind Mission Interface</a:t>
            </a:r>
          </a:p>
          <a:p>
            <a:pPr>
              <a:defRPr sz="900">
                <a:solidFill>
                  <a:srgbClr val="94A3B8"/>
                </a:solidFill>
              </a:defRPr>
            </a:pPr>
            <a:r>
              <a:t>5Hz WebSocket UI, cylinder thermal bars &amp; interactive testing deck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Layer 1: High-frequency edge telemetry ingestion and dynamic failure simulation.</a:t>
            </a:r>
          </a:p>
        </p:txBody>
      </p:sp>
      <p:sp>
        <p:nvSpPr>
          <p:cNvPr id="4" name="Rounded Rectangle 3"/>
          <p:cNvSpPr/>
          <p:nvPr/>
        </p:nvSpPr>
        <p:spPr>
          <a:xfrm>
            <a:off x="731520" y="1371600"/>
            <a:ext cx="3383280" cy="182880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08760"/>
            <a:ext cx="3108960" cy="1554480"/>
          </a:xfrm>
          <a:prstGeom prst="rect">
            <a:avLst/>
          </a:prstGeom>
          <a:noFill/>
        </p:spPr>
        <p:txBody>
          <a:bodyPr wrap="square">
            <a:spAutoFit/>
          </a:bodyPr>
          <a:lstStyle/>
          <a:p>
            <a:pPr>
              <a:defRPr sz="1100" b="1">
                <a:solidFill>
                  <a:srgbClr val="00E5FF"/>
                </a:solidFill>
              </a:defRPr>
            </a:pPr>
            <a:r>
              <a:t>Rotational</a:t>
            </a:r>
          </a:p>
          <a:p>
            <a:pPr>
              <a:defRPr sz="900" b="1">
                <a:solidFill>
                  <a:srgbClr val="F1F5F9"/>
                </a:solidFill>
              </a:defRPr>
            </a:pPr>
            <a:r>
              <a:t>RPM (4800-5800) | MAP (25-38 inHg)</a:t>
            </a:r>
          </a:p>
          <a:p>
            <a:pPr>
              <a:defRPr sz="850">
                <a:solidFill>
                  <a:srgbClr val="94A3B8"/>
                </a:solidFill>
              </a:defRPr>
            </a:pPr>
            <a:r>
              <a:t>Crankshaft angular velocity &amp; Turbo boost manifold absolute pressure.</a:t>
            </a:r>
          </a:p>
        </p:txBody>
      </p:sp>
      <p:sp>
        <p:nvSpPr>
          <p:cNvPr id="6" name="Rounded Rectangle 5"/>
          <p:cNvSpPr/>
          <p:nvPr/>
        </p:nvSpPr>
        <p:spPr>
          <a:xfrm>
            <a:off x="4297680" y="1371600"/>
            <a:ext cx="3383280" cy="182880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1508760"/>
            <a:ext cx="3108960" cy="1554480"/>
          </a:xfrm>
          <a:prstGeom prst="rect">
            <a:avLst/>
          </a:prstGeom>
          <a:noFill/>
        </p:spPr>
        <p:txBody>
          <a:bodyPr wrap="square">
            <a:spAutoFit/>
          </a:bodyPr>
          <a:lstStyle/>
          <a:p>
            <a:pPr>
              <a:defRPr sz="1100" b="1">
                <a:solidFill>
                  <a:srgbClr val="00E5FF"/>
                </a:solidFill>
              </a:defRPr>
            </a:pPr>
            <a:r>
              <a:t>Thermal</a:t>
            </a:r>
          </a:p>
          <a:p>
            <a:pPr>
              <a:defRPr sz="900" b="1">
                <a:solidFill>
                  <a:srgbClr val="F1F5F9"/>
                </a:solidFill>
              </a:defRPr>
            </a:pPr>
            <a:r>
              <a:t>4x CHT (90-130°C) | 4x EGT (750-880°C)</a:t>
            </a:r>
          </a:p>
          <a:p>
            <a:pPr>
              <a:defRPr sz="850">
                <a:solidFill>
                  <a:srgbClr val="94A3B8"/>
                </a:solidFill>
              </a:defRPr>
            </a:pPr>
            <a:r>
              <a:t>Individual cylinder head and post-combustion exhaust thermal streams.</a:t>
            </a:r>
          </a:p>
        </p:txBody>
      </p:sp>
      <p:sp>
        <p:nvSpPr>
          <p:cNvPr id="8" name="Rounded Rectangle 7"/>
          <p:cNvSpPr/>
          <p:nvPr/>
        </p:nvSpPr>
        <p:spPr>
          <a:xfrm>
            <a:off x="731520" y="3383280"/>
            <a:ext cx="3383280" cy="182880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520440"/>
            <a:ext cx="3108960" cy="1554480"/>
          </a:xfrm>
          <a:prstGeom prst="rect">
            <a:avLst/>
          </a:prstGeom>
          <a:noFill/>
        </p:spPr>
        <p:txBody>
          <a:bodyPr wrap="square">
            <a:spAutoFit/>
          </a:bodyPr>
          <a:lstStyle/>
          <a:p>
            <a:pPr>
              <a:defRPr sz="1100" b="1">
                <a:solidFill>
                  <a:srgbClr val="00E5FF"/>
                </a:solidFill>
              </a:defRPr>
            </a:pPr>
            <a:r>
              <a:t>Fluid / Tribology</a:t>
            </a:r>
          </a:p>
          <a:p>
            <a:pPr>
              <a:defRPr sz="900" b="1">
                <a:solidFill>
                  <a:srgbClr val="F1F5F9"/>
                </a:solidFill>
              </a:defRPr>
            </a:pPr>
            <a:r>
              <a:t>Oil Pressure (2.5-5.0 bar) | Oil Temp (80-110°C)</a:t>
            </a:r>
          </a:p>
          <a:p>
            <a:pPr>
              <a:defRPr sz="850">
                <a:solidFill>
                  <a:srgbClr val="94A3B8"/>
                </a:solidFill>
              </a:defRPr>
            </a:pPr>
            <a:r>
              <a:t>Hydrodynamic journal bearing lubrication state.</a:t>
            </a:r>
          </a:p>
        </p:txBody>
      </p:sp>
      <p:sp>
        <p:nvSpPr>
          <p:cNvPr id="10" name="Rounded Rectangle 9"/>
          <p:cNvSpPr/>
          <p:nvPr/>
        </p:nvSpPr>
        <p:spPr>
          <a:xfrm>
            <a:off x="4297680" y="3383280"/>
            <a:ext cx="3383280" cy="182880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3520440"/>
            <a:ext cx="3108960" cy="1554480"/>
          </a:xfrm>
          <a:prstGeom prst="rect">
            <a:avLst/>
          </a:prstGeom>
          <a:noFill/>
        </p:spPr>
        <p:txBody>
          <a:bodyPr wrap="square">
            <a:spAutoFit/>
          </a:bodyPr>
          <a:lstStyle/>
          <a:p>
            <a:pPr>
              <a:defRPr sz="1100" b="1">
                <a:solidFill>
                  <a:srgbClr val="00E5FF"/>
                </a:solidFill>
              </a:defRPr>
            </a:pPr>
            <a:r>
              <a:t>Structural</a:t>
            </a:r>
          </a:p>
          <a:p>
            <a:pPr>
              <a:defRPr sz="900" b="1">
                <a:solidFill>
                  <a:srgbClr val="F1F5F9"/>
                </a:solidFill>
              </a:defRPr>
            </a:pPr>
            <a:r>
              <a:t>Tri-axial Vibration (0.8-1.8g RMS)</a:t>
            </a:r>
          </a:p>
          <a:p>
            <a:pPr>
              <a:defRPr sz="850">
                <a:solidFill>
                  <a:srgbClr val="94A3B8"/>
                </a:solidFill>
              </a:defRPr>
            </a:pPr>
            <a:r>
              <a:t>High-frequency X, Y, Z accelerometers capturing bearing friction &amp; scuffing.</a:t>
            </a:r>
          </a:p>
        </p:txBody>
      </p:sp>
      <p:sp>
        <p:nvSpPr>
          <p:cNvPr id="12" name="Rounded Rectangle 11"/>
          <p:cNvSpPr/>
          <p:nvPr/>
        </p:nvSpPr>
        <p:spPr>
          <a:xfrm>
            <a:off x="8046720" y="1371600"/>
            <a:ext cx="3383280" cy="4023360"/>
          </a:xfrm>
          <a:prstGeom prst="roundRect">
            <a:avLst/>
          </a:prstGeom>
          <a:solidFill>
            <a:srgbClr val="0D1424"/>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554480"/>
            <a:ext cx="3017520" cy="3657600"/>
          </a:xfrm>
          <a:prstGeom prst="rect">
            <a:avLst/>
          </a:prstGeom>
          <a:noFill/>
        </p:spPr>
        <p:txBody>
          <a:bodyPr wrap="square">
            <a:spAutoFit/>
          </a:bodyPr>
          <a:lstStyle/>
          <a:p>
            <a:pPr>
              <a:spcAft>
                <a:spcPts val="1000"/>
              </a:spcAft>
              <a:defRPr sz="1200" b="1">
                <a:solidFill>
                  <a:srgbClr val="EF4444"/>
                </a:solidFill>
              </a:defRPr>
            </a:pPr>
            <a:r>
              <a:t>SIMULATION OVERRIDE DECK</a:t>
            </a:r>
          </a:p>
          <a:p>
            <a:pPr>
              <a:defRPr sz="1000" b="1">
                <a:solidFill>
                  <a:srgbClr val="F1F5F9"/>
                </a:solidFill>
              </a:defRPr>
            </a:pPr>
            <a:r>
              <a:t>🔘 COOLANT_LEAK</a:t>
            </a:r>
          </a:p>
          <a:p>
            <a:pPr>
              <a:spcAft>
                <a:spcPts val="600"/>
              </a:spcAft>
              <a:defRPr sz="850">
                <a:solidFill>
                  <a:srgbClr val="94A3B8"/>
                </a:solidFill>
              </a:defRPr>
            </a:pPr>
            <a:r>
              <a:t>   Exponential CHT runaway (&gt;135°C). Radiator puncture simulation.</a:t>
            </a:r>
          </a:p>
          <a:p>
            <a:pPr>
              <a:defRPr sz="1000" b="1">
                <a:solidFill>
                  <a:srgbClr val="F1F5F9"/>
                </a:solidFill>
              </a:defRPr>
            </a:pPr>
            <a:r>
              <a:t>🔘 OIL_STARVATION</a:t>
            </a:r>
          </a:p>
          <a:p>
            <a:pPr>
              <a:spcAft>
                <a:spcPts val="600"/>
              </a:spcAft>
              <a:defRPr sz="850">
                <a:solidFill>
                  <a:srgbClr val="94A3B8"/>
                </a:solidFill>
              </a:defRPr>
            </a:pPr>
            <a:r>
              <a:t>   Pressure collapse (&lt;1.2 bar) + bearing vibration spike (&gt;13g).</a:t>
            </a:r>
          </a:p>
          <a:p>
            <a:pPr>
              <a:defRPr sz="1000" b="1">
                <a:solidFill>
                  <a:srgbClr val="F1F5F9"/>
                </a:solidFill>
              </a:defRPr>
            </a:pPr>
            <a:r>
              <a:t>🔘 CYLINDER_MISFIRE</a:t>
            </a:r>
          </a:p>
          <a:p>
            <a:pPr>
              <a:spcAft>
                <a:spcPts val="600"/>
              </a:spcAft>
              <a:defRPr sz="850">
                <a:solidFill>
                  <a:srgbClr val="94A3B8"/>
                </a:solidFill>
              </a:defRPr>
            </a:pPr>
            <a:r>
              <a:t>   Abrupt EGT drop (&lt;400°C) on Cylinder 3 + torque ripple.</a:t>
            </a:r>
          </a:p>
        </p:txBody>
      </p:sp>
      <p:sp>
        <p:nvSpPr>
          <p:cNvPr id="14" name="TextBox 13"/>
          <p:cNvSpPr txBox="1"/>
          <p:nvPr/>
        </p:nvSpPr>
        <p:spPr>
          <a:xfrm>
            <a:off x="731520" y="5669280"/>
            <a:ext cx="10698480" cy="457200"/>
          </a:xfrm>
          <a:prstGeom prst="rect">
            <a:avLst/>
          </a:prstGeom>
          <a:noFill/>
        </p:spPr>
        <p:txBody>
          <a:bodyPr wrap="none">
            <a:spAutoFit/>
          </a:bodyPr>
          <a:lstStyle/>
          <a:p>
            <a:pPr>
              <a:defRPr sz="950">
                <a:solidFill>
                  <a:srgbClr val="10B981"/>
                </a:solidFill>
              </a:defRPr>
            </a:pPr>
            <a:r>
              <a:t>Asynchronous WebSocket streaming at 5Hz (sub-50ms cycle) • Full Authority Digital Engine Control (FADEC) Compatible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Layer 2: Anchoring Deep Learning to 1D Thermodynamics to eliminate AI hallucination</a:t>
            </a:r>
          </a:p>
        </p:txBody>
      </p:sp>
      <p:sp>
        <p:nvSpPr>
          <p:cNvPr id="4" name="Rounded Rectangle 3"/>
          <p:cNvSpPr/>
          <p:nvPr/>
        </p:nvSpPr>
        <p:spPr>
          <a:xfrm>
            <a:off x="731520" y="1371600"/>
            <a:ext cx="5669280" cy="493776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5303520" cy="4572000"/>
          </a:xfrm>
          <a:prstGeom prst="rect">
            <a:avLst/>
          </a:prstGeom>
          <a:noFill/>
        </p:spPr>
        <p:txBody>
          <a:bodyPr wrap="square">
            <a:spAutoFit/>
          </a:bodyPr>
          <a:lstStyle/>
          <a:p>
            <a:pPr>
              <a:spcAft>
                <a:spcPts val="1000"/>
              </a:spcAft>
              <a:defRPr sz="1200" b="1">
                <a:solidFill>
                  <a:srgbClr val="00E5FF"/>
                </a:solidFill>
              </a:defRPr>
            </a:pPr>
            <a:r>
              <a:t>THERMODYNAMIC RESIDUAL DIVERGENCE (Δ)</a:t>
            </a:r>
          </a:p>
          <a:p>
            <a:pPr>
              <a:defRPr sz="1000">
                <a:solidFill>
                  <a:srgbClr val="F1F5F9"/>
                </a:solidFill>
              </a:defRPr>
            </a:pPr>
            <a:r>
              <a:t>Solid Gold Line: 1D Thermodynamic Expected Otto Curve</a:t>
            </a:r>
            <a:br/>
            <a:r>
              <a:t>Cyan Dashed Line: Live Telemetry Sensors</a:t>
            </a:r>
            <a:br/>
            <a:r>
              <a:t>Highlighted Region: Delta Residual Deviation (Δ = Sensor - Theo)</a:t>
            </a:r>
            <a:br/>
            <a:br/>
            <a:r>
              <a:t>Mathematical Formulations:</a:t>
            </a:r>
            <a:br/>
            <a:r>
              <a:t>• Air Mass: m_dot = (V_d * RPM * eta_v * MAP) / (2 * R * T_man)</a:t>
            </a:r>
            <a:br/>
            <a:r>
              <a:t>• Theo CHT: (Q_comb * alpha) / (h_cool * A + h_ram * V_air) + T_amb</a:t>
            </a:r>
            <a:br/>
            <a:r>
              <a:t>• Theo Oil P: mu(T_oil) * omega_crank * K_pump</a:t>
            </a:r>
            <a:br/>
            <a:br/>
            <a:r>
              <a:t>Result: Normal climb power raises CHT but Δ remains 0°C. Real coolant breaches spike Δ to +25°C immediately!</a:t>
            </a:r>
          </a:p>
        </p:txBody>
      </p:sp>
      <p:sp>
        <p:nvSpPr>
          <p:cNvPr id="6" name="Rounded Rectangle 5"/>
          <p:cNvSpPr/>
          <p:nvPr/>
        </p:nvSpPr>
        <p:spPr>
          <a:xfrm>
            <a:off x="6675120" y="1371600"/>
            <a:ext cx="4754880" cy="150876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12280" y="1508760"/>
            <a:ext cx="4480560" cy="1234440"/>
          </a:xfrm>
          <a:prstGeom prst="rect">
            <a:avLst/>
          </a:prstGeom>
          <a:noFill/>
        </p:spPr>
        <p:txBody>
          <a:bodyPr wrap="square">
            <a:spAutoFit/>
          </a:bodyPr>
          <a:lstStyle/>
          <a:p>
            <a:pPr>
              <a:spcAft>
                <a:spcPts val="300"/>
              </a:spcAft>
              <a:defRPr sz="1150" b="1">
                <a:solidFill>
                  <a:srgbClr val="00E5FF"/>
                </a:solidFill>
              </a:defRPr>
            </a:pPr>
            <a:r>
              <a:t>1. Physics Baseline</a:t>
            </a:r>
          </a:p>
          <a:p>
            <a:pPr>
              <a:defRPr sz="900">
                <a:solidFill>
                  <a:srgbClr val="94A3B8"/>
                </a:solidFill>
              </a:defRPr>
            </a:pPr>
            <a:r>
              <a:t>Calculates theoretical CHT/EGT and pressure based on real-time altitude, throttle, and stoichiometric ratios.</a:t>
            </a:r>
          </a:p>
        </p:txBody>
      </p:sp>
      <p:sp>
        <p:nvSpPr>
          <p:cNvPr id="8" name="Rounded Rectangle 7"/>
          <p:cNvSpPr/>
          <p:nvPr/>
        </p:nvSpPr>
        <p:spPr>
          <a:xfrm>
            <a:off x="6675120" y="3017520"/>
            <a:ext cx="4754880" cy="1508760"/>
          </a:xfrm>
          <a:prstGeom prst="roundRect">
            <a:avLst/>
          </a:prstGeom>
          <a:solidFill>
            <a:srgbClr val="0D142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3154679"/>
            <a:ext cx="4480560" cy="1234440"/>
          </a:xfrm>
          <a:prstGeom prst="rect">
            <a:avLst/>
          </a:prstGeom>
          <a:noFill/>
        </p:spPr>
        <p:txBody>
          <a:bodyPr wrap="square">
            <a:spAutoFit/>
          </a:bodyPr>
          <a:lstStyle/>
          <a:p>
            <a:pPr>
              <a:spcAft>
                <a:spcPts val="300"/>
              </a:spcAft>
              <a:defRPr sz="1150" b="1">
                <a:solidFill>
                  <a:srgbClr val="F59E0B"/>
                </a:solidFill>
              </a:defRPr>
            </a:pPr>
            <a:r>
              <a:t>2. Residual Extraction</a:t>
            </a:r>
          </a:p>
          <a:p>
            <a:pPr>
              <a:defRPr sz="900">
                <a:solidFill>
                  <a:srgbClr val="94A3B8"/>
                </a:solidFill>
              </a:defRPr>
            </a:pPr>
            <a:r>
              <a:t>Compares live telemetry to the physical laws to extract precise Delta deviation (isolating true anomaly from normal operational shifts).</a:t>
            </a:r>
          </a:p>
        </p:txBody>
      </p:sp>
      <p:sp>
        <p:nvSpPr>
          <p:cNvPr id="10" name="Rounded Rectangle 9"/>
          <p:cNvSpPr/>
          <p:nvPr/>
        </p:nvSpPr>
        <p:spPr>
          <a:xfrm>
            <a:off x="6675120" y="4663440"/>
            <a:ext cx="4754880" cy="1508760"/>
          </a:xfrm>
          <a:prstGeom prst="roundRect">
            <a:avLst/>
          </a:prstGeom>
          <a:solidFill>
            <a:srgbClr val="0D1424"/>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12280" y="4800600"/>
            <a:ext cx="4480560" cy="1234440"/>
          </a:xfrm>
          <a:prstGeom prst="rect">
            <a:avLst/>
          </a:prstGeom>
          <a:noFill/>
        </p:spPr>
        <p:txBody>
          <a:bodyPr wrap="square">
            <a:spAutoFit/>
          </a:bodyPr>
          <a:lstStyle/>
          <a:p>
            <a:pPr>
              <a:spcAft>
                <a:spcPts val="300"/>
              </a:spcAft>
              <a:defRPr sz="1150" b="1">
                <a:solidFill>
                  <a:srgbClr val="A855F7"/>
                </a:solidFill>
              </a:defRPr>
            </a:pPr>
            <a:r>
              <a:t>3. Predictive Engine</a:t>
            </a:r>
          </a:p>
          <a:p>
            <a:pPr>
              <a:defRPr sz="900">
                <a:solidFill>
                  <a:srgbClr val="94A3B8"/>
                </a:solidFill>
              </a:defRPr>
            </a:pPr>
            <a:r>
              <a:t>A 2-layer BiLSTM processes a 15-frame rolling window of residuals to output highly accurate Remaining Useful Life (RUL) countdown in minutes.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Layer 3: The Autonomous Rules-of-Engagement Agent acts as an AI Co-Pilot.</a:t>
            </a:r>
          </a:p>
        </p:txBody>
      </p:sp>
      <p:sp>
        <p:nvSpPr>
          <p:cNvPr id="4" name="Rounded Rectangle 3"/>
          <p:cNvSpPr/>
          <p:nvPr/>
        </p:nvSpPr>
        <p:spPr>
          <a:xfrm>
            <a:off x="731520" y="1371600"/>
            <a:ext cx="10698480" cy="1234440"/>
          </a:xfrm>
          <a:prstGeom prst="roundRect">
            <a:avLst/>
          </a:prstGeom>
          <a:solidFill>
            <a:srgbClr val="0D1424"/>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10332720" cy="1051560"/>
          </a:xfrm>
          <a:prstGeom prst="rect">
            <a:avLst/>
          </a:prstGeom>
          <a:noFill/>
        </p:spPr>
        <p:txBody>
          <a:bodyPr wrap="square">
            <a:spAutoFit/>
          </a:bodyPr>
          <a:lstStyle/>
          <a:p>
            <a:pPr>
              <a:defRPr sz="1300" b="1">
                <a:solidFill>
                  <a:srgbClr val="EF4444"/>
                </a:solidFill>
              </a:defRPr>
            </a:pPr>
            <a:r>
              <a:t>CRITICAL</a:t>
            </a:r>
          </a:p>
          <a:p>
            <a:pPr>
              <a:defRPr sz="950">
                <a:solidFill>
                  <a:srgbClr val="F1F5F9"/>
                </a:solidFill>
              </a:defRPr>
            </a:pPr>
            <a:r>
              <a:t>Trigger: RUL &lt; 15 mins OR Oil Pressure &lt; 1.0 bar.</a:t>
            </a:r>
            <a:br/>
            <a:r>
              <a:t>Action: Triggers immediate Emergency RTB (Return-to-Base) glide path; hard-limits throttle to 30-40% to preserve final lubrication.</a:t>
            </a:r>
          </a:p>
        </p:txBody>
      </p:sp>
      <p:sp>
        <p:nvSpPr>
          <p:cNvPr id="6" name="Rounded Rectangle 5"/>
          <p:cNvSpPr/>
          <p:nvPr/>
        </p:nvSpPr>
        <p:spPr>
          <a:xfrm>
            <a:off x="731520" y="2743200"/>
            <a:ext cx="10698480" cy="1234440"/>
          </a:xfrm>
          <a:prstGeom prst="roundRect">
            <a:avLst/>
          </a:prstGeom>
          <a:solidFill>
            <a:srgbClr val="0D142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34640"/>
            <a:ext cx="10332720" cy="1051560"/>
          </a:xfrm>
          <a:prstGeom prst="rect">
            <a:avLst/>
          </a:prstGeom>
          <a:noFill/>
        </p:spPr>
        <p:txBody>
          <a:bodyPr wrap="square">
            <a:spAutoFit/>
          </a:bodyPr>
          <a:lstStyle/>
          <a:p>
            <a:pPr>
              <a:defRPr sz="1300" b="1">
                <a:solidFill>
                  <a:srgbClr val="F59E0B"/>
                </a:solidFill>
              </a:defRPr>
            </a:pPr>
            <a:r>
              <a:t>WARNING</a:t>
            </a:r>
          </a:p>
          <a:p>
            <a:pPr>
              <a:defRPr sz="950">
                <a:solidFill>
                  <a:srgbClr val="F1F5F9"/>
                </a:solidFill>
              </a:defRPr>
            </a:pPr>
            <a:r>
              <a:t>Trigger: RUL &lt; 120 mins OR CHT &gt; 130°C.</a:t>
            </a:r>
            <a:br/>
            <a:r>
              <a:t>Action: Proactive De-rate Protocol. Reduces throttle by 20%, enriches fuel mixture by 10% for evaporative cylinder cooling.</a:t>
            </a:r>
          </a:p>
        </p:txBody>
      </p:sp>
      <p:sp>
        <p:nvSpPr>
          <p:cNvPr id="8" name="Rounded Rectangle 7"/>
          <p:cNvSpPr/>
          <p:nvPr/>
        </p:nvSpPr>
        <p:spPr>
          <a:xfrm>
            <a:off x="731520" y="4114800"/>
            <a:ext cx="10698480" cy="1234440"/>
          </a:xfrm>
          <a:prstGeom prst="roundRect">
            <a:avLst/>
          </a:prstGeom>
          <a:solidFill>
            <a:srgbClr val="0D142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06240"/>
            <a:ext cx="10332720" cy="1051560"/>
          </a:xfrm>
          <a:prstGeom prst="rect">
            <a:avLst/>
          </a:prstGeom>
          <a:noFill/>
        </p:spPr>
        <p:txBody>
          <a:bodyPr wrap="square">
            <a:spAutoFit/>
          </a:bodyPr>
          <a:lstStyle/>
          <a:p>
            <a:pPr>
              <a:defRPr sz="1300" b="1">
                <a:solidFill>
                  <a:srgbClr val="10B981"/>
                </a:solidFill>
              </a:defRPr>
            </a:pPr>
            <a:r>
              <a:t>NOMINAL</a:t>
            </a:r>
          </a:p>
          <a:p>
            <a:pPr>
              <a:defRPr sz="950">
                <a:solidFill>
                  <a:srgbClr val="F1F5F9"/>
                </a:solidFill>
              </a:defRPr>
            </a:pPr>
            <a:r>
              <a:t>Trigger: All physics residuals within +/-1.5°C tolerance.</a:t>
            </a:r>
            <a:br/>
            <a:r>
              <a:t>Action: Confirms standard mission envelope and maximum persistent ISR capability.</a:t>
            </a:r>
          </a:p>
        </p:txBody>
      </p:sp>
      <p:sp>
        <p:nvSpPr>
          <p:cNvPr id="10" name="Rounded Rectangle 9"/>
          <p:cNvSpPr/>
          <p:nvPr/>
        </p:nvSpPr>
        <p:spPr>
          <a:xfrm>
            <a:off x="731520" y="5486400"/>
            <a:ext cx="10698480" cy="82296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32720" cy="640080"/>
          </a:xfrm>
          <a:prstGeom prst="rect">
            <a:avLst/>
          </a:prstGeom>
          <a:noFill/>
        </p:spPr>
        <p:txBody>
          <a:bodyPr wrap="none">
            <a:spAutoFit/>
          </a:bodyPr>
          <a:lstStyle/>
          <a:p>
            <a:pPr>
              <a:defRPr sz="1000" b="1">
                <a:solidFill>
                  <a:srgbClr val="00E5FF"/>
                </a:solidFill>
                <a:latin typeface="Courier New"/>
              </a:defRPr>
            </a:pPr>
            <a:r>
              <a:t>EXPLAINABLE AI (XAI) TRACE &gt;&gt; Throttle de-rate executed. Reason: CHT 3 anomaly detected. Result: +35.0 mins extended flight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Layer 4: A low-latency, tactical dashboard engineered to minimize operator cognitive load.</a:t>
            </a:r>
          </a:p>
        </p:txBody>
      </p:sp>
      <p:pic>
        <p:nvPicPr>
          <p:cNvPr id="4" name="Picture 3" descr="gcs_nominal_dashboard.png"/>
          <p:cNvPicPr>
            <a:picLocks noChangeAspect="1"/>
          </p:cNvPicPr>
          <p:nvPr/>
        </p:nvPicPr>
        <p:blipFill>
          <a:blip r:embed="rId2"/>
          <a:stretch>
            <a:fillRect/>
          </a:stretch>
        </p:blipFill>
        <p:spPr>
          <a:xfrm>
            <a:off x="2926080" y="1371600"/>
            <a:ext cx="6309360" cy="4603861"/>
          </a:xfrm>
          <a:prstGeom prst="rect">
            <a:avLst/>
          </a:prstGeom>
        </p:spPr>
      </p:pic>
      <p:sp>
        <p:nvSpPr>
          <p:cNvPr id="5" name="Rounded Rectangle 4"/>
          <p:cNvSpPr/>
          <p:nvPr/>
        </p:nvSpPr>
        <p:spPr>
          <a:xfrm>
            <a:off x="731520" y="1463040"/>
            <a:ext cx="2011680" cy="201168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1828800" cy="1828800"/>
          </a:xfrm>
          <a:prstGeom prst="rect">
            <a:avLst/>
          </a:prstGeom>
          <a:noFill/>
        </p:spPr>
        <p:txBody>
          <a:bodyPr wrap="square">
            <a:spAutoFit/>
          </a:bodyPr>
          <a:lstStyle/>
          <a:p>
            <a:pPr>
              <a:defRPr sz="1000" b="1">
                <a:solidFill>
                  <a:srgbClr val="00E5FF"/>
                </a:solidFill>
              </a:defRPr>
            </a:pPr>
            <a:r>
              <a:t>Real-Time Health Engine</a:t>
            </a:r>
          </a:p>
          <a:p>
            <a:pPr>
              <a:defRPr sz="850">
                <a:solidFill>
                  <a:srgbClr val="94A3B8"/>
                </a:solidFill>
              </a:defRPr>
            </a:pPr>
            <a:r>
              <a:t>Live RUL countdown &amp; dynamic failure probability indexing.</a:t>
            </a:r>
          </a:p>
        </p:txBody>
      </p:sp>
      <p:sp>
        <p:nvSpPr>
          <p:cNvPr id="7" name="Rounded Rectangle 6"/>
          <p:cNvSpPr/>
          <p:nvPr/>
        </p:nvSpPr>
        <p:spPr>
          <a:xfrm>
            <a:off x="731520" y="3840480"/>
            <a:ext cx="2011680" cy="2011680"/>
          </a:xfrm>
          <a:prstGeom prst="roundRect">
            <a:avLst/>
          </a:prstGeom>
          <a:solidFill>
            <a:srgbClr val="0D142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931920"/>
            <a:ext cx="1828800" cy="1828800"/>
          </a:xfrm>
          <a:prstGeom prst="rect">
            <a:avLst/>
          </a:prstGeom>
          <a:noFill/>
        </p:spPr>
        <p:txBody>
          <a:bodyPr wrap="square">
            <a:spAutoFit/>
          </a:bodyPr>
          <a:lstStyle/>
          <a:p>
            <a:pPr>
              <a:defRPr sz="1000" b="1">
                <a:solidFill>
                  <a:srgbClr val="F59E0B"/>
                </a:solidFill>
              </a:defRPr>
            </a:pPr>
            <a:r>
              <a:t>Actionable UI</a:t>
            </a:r>
          </a:p>
          <a:p>
            <a:pPr>
              <a:defRPr sz="850">
                <a:solidFill>
                  <a:srgbClr val="94A3B8"/>
                </a:solidFill>
              </a:defRPr>
            </a:pPr>
            <a:r>
              <a:t>Multi-channel telemetry mapped visually to isolate friction vs overheat.</a:t>
            </a:r>
          </a:p>
        </p:txBody>
      </p:sp>
      <p:sp>
        <p:nvSpPr>
          <p:cNvPr id="9" name="Rounded Rectangle 8"/>
          <p:cNvSpPr/>
          <p:nvPr/>
        </p:nvSpPr>
        <p:spPr>
          <a:xfrm>
            <a:off x="9418320" y="1463040"/>
            <a:ext cx="2011680" cy="2011680"/>
          </a:xfrm>
          <a:prstGeom prst="roundRect">
            <a:avLst/>
          </a:prstGeom>
          <a:solidFill>
            <a:srgbClr val="0D1424"/>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0" y="1554480"/>
            <a:ext cx="1828800" cy="1828800"/>
          </a:xfrm>
          <a:prstGeom prst="rect">
            <a:avLst/>
          </a:prstGeom>
          <a:noFill/>
        </p:spPr>
        <p:txBody>
          <a:bodyPr wrap="square">
            <a:spAutoFit/>
          </a:bodyPr>
          <a:lstStyle/>
          <a:p>
            <a:pPr>
              <a:defRPr sz="1000" b="1">
                <a:solidFill>
                  <a:srgbClr val="A855F7"/>
                </a:solidFill>
              </a:defRPr>
            </a:pPr>
            <a:r>
              <a:t>Autonomous Advisory</a:t>
            </a:r>
          </a:p>
          <a:p>
            <a:pPr>
              <a:defRPr sz="850">
                <a:solidFill>
                  <a:srgbClr val="94A3B8"/>
                </a:solidFill>
              </a:defRPr>
            </a:pPr>
            <a:r>
              <a:t>Action directives, throttle limits, EXECUTE / OVERRIDE buttons.</a:t>
            </a:r>
          </a:p>
        </p:txBody>
      </p:sp>
      <p:sp>
        <p:nvSpPr>
          <p:cNvPr id="11" name="Rounded Rectangle 10"/>
          <p:cNvSpPr/>
          <p:nvPr/>
        </p:nvSpPr>
        <p:spPr>
          <a:xfrm>
            <a:off x="9418320" y="3840480"/>
            <a:ext cx="2011680" cy="2011680"/>
          </a:xfrm>
          <a:prstGeom prst="roundRect">
            <a:avLst/>
          </a:prstGeom>
          <a:solidFill>
            <a:srgbClr val="0D142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0" y="3931920"/>
            <a:ext cx="1828800" cy="1828800"/>
          </a:xfrm>
          <a:prstGeom prst="rect">
            <a:avLst/>
          </a:prstGeom>
          <a:noFill/>
        </p:spPr>
        <p:txBody>
          <a:bodyPr wrap="square">
            <a:spAutoFit/>
          </a:bodyPr>
          <a:lstStyle/>
          <a:p>
            <a:pPr>
              <a:defRPr sz="1000" b="1">
                <a:solidFill>
                  <a:srgbClr val="10B981"/>
                </a:solidFill>
              </a:defRPr>
            </a:pPr>
            <a:r>
              <a:t>Instant Testing Deck</a:t>
            </a:r>
          </a:p>
          <a:p>
            <a:pPr>
              <a:defRPr sz="850">
                <a:solidFill>
                  <a:srgbClr val="94A3B8"/>
                </a:solidFill>
              </a:defRPr>
            </a:pPr>
            <a:r>
              <a:t>4 interactive fault injections &amp; real-time throttle override.</a:t>
            </a:r>
          </a:p>
        </p:txBody>
      </p:sp>
      <p:sp>
        <p:nvSpPr>
          <p:cNvPr id="13" name="TextBox 12"/>
          <p:cNvSpPr txBox="1"/>
          <p:nvPr/>
        </p:nvSpPr>
        <p:spPr>
          <a:xfrm>
            <a:off x="731520" y="6217920"/>
            <a:ext cx="10698480" cy="365760"/>
          </a:xfrm>
          <a:prstGeom prst="rect">
            <a:avLst/>
          </a:prstGeom>
          <a:noFill/>
        </p:spPr>
        <p:txBody>
          <a:bodyPr wrap="none">
            <a:spAutoFit/>
          </a:bodyPr>
          <a:lstStyle/>
          <a:p>
            <a:pPr algn="ctr">
              <a:defRPr sz="950">
                <a:solidFill>
                  <a:srgbClr val="00E5FF"/>
                </a:solidFill>
              </a:defRPr>
            </a:pPr>
            <a:r>
              <a:t>Built on: Next.js 15 | React 19 | TypeScript | Tailwind CSS | Recharts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Edge Case Synthesis: Distinguishing a faulty wire from a failing engine.</a:t>
            </a:r>
          </a:p>
        </p:txBody>
      </p:sp>
      <p:sp>
        <p:nvSpPr>
          <p:cNvPr id="4" name="Rounded Rectangle 3"/>
          <p:cNvSpPr/>
          <p:nvPr/>
        </p:nvSpPr>
        <p:spPr>
          <a:xfrm>
            <a:off x="731520" y="1280160"/>
            <a:ext cx="10698480" cy="502920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4663440"/>
          </a:xfrm>
          <a:prstGeom prst="rect">
            <a:avLst/>
          </a:prstGeom>
          <a:noFill/>
        </p:spPr>
        <p:txBody>
          <a:bodyPr wrap="square">
            <a:spAutoFit/>
          </a:bodyPr>
          <a:lstStyle/>
          <a:p>
            <a:pPr>
              <a:spcAft>
                <a:spcPts val="1200"/>
              </a:spcAft>
              <a:defRPr sz="1300" b="1">
                <a:solidFill>
                  <a:srgbClr val="00E5FF"/>
                </a:solidFill>
              </a:defRPr>
            </a:pPr>
            <a:r>
              <a:t>EVALUATOR QUESTION: WHAT IF A SENSOR FAILS, NOT THE PHYSICAL ENGINE?</a:t>
            </a:r>
          </a:p>
          <a:p>
            <a:pPr>
              <a:defRPr sz="1100">
                <a:solidFill>
                  <a:srgbClr val="F1F5F9"/>
                </a:solidFill>
              </a:defRPr>
            </a:pPr>
            <a:r>
              <a:t>Scenario: CHT Sensor 3 spikes instantaneously to 150°C.</a:t>
            </a:r>
            <a:br/>
            <a:br/>
            <a:r>
              <a:t>Multi-Sensor Cross-Validation Logic:</a:t>
            </a:r>
            <a:br/>
            <a:r>
              <a:t>  1. Check Structural Vibration: NOMINAL (No bearing friction detected)</a:t>
            </a:r>
            <a:br/>
            <a:r>
              <a:t>  2. Check Oil Temperature: NOMINAL (No global heat accumulation)</a:t>
            </a:r>
            <a:br/>
            <a:r>
              <a:t>  3. Check Adjacent CHT 1, 2, 4: NOMINAL (Cooling jacket intact)</a:t>
            </a:r>
            <a:br/>
            <a:br/>
            <a:r>
              <a:t>DIAGNOSIS &gt;&gt; ISOLATED SENSOR FAULT. MAINTAIN FLIGHT ENVELOPE.</a:t>
            </a:r>
            <a:br/>
            <a:br/>
            <a:r>
              <a:t>Key Engineering Takeaway:</a:t>
            </a:r>
            <a:br/>
            <a:r>
              <a:t>Because our Hybrid Twin continuously correlates multiple physical channels, a single anomalous reading cannot trigger a false RTB.</a:t>
            </a:r>
            <a:br/>
            <a:r>
              <a:t>AeroGuard prevents aborted multi-million-dollar missions due to a $50 faulty wire.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Resolving defense-grade constraints: Training data and operational control.</a:t>
            </a:r>
          </a:p>
        </p:txBody>
      </p:sp>
      <p:sp>
        <p:nvSpPr>
          <p:cNvPr id="4" name="Rounded Rectangle 3"/>
          <p:cNvSpPr/>
          <p:nvPr/>
        </p:nvSpPr>
        <p:spPr>
          <a:xfrm>
            <a:off x="731520" y="1280160"/>
            <a:ext cx="5212080" cy="493776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846320" cy="4572000"/>
          </a:xfrm>
          <a:prstGeom prst="rect">
            <a:avLst/>
          </a:prstGeom>
          <a:noFill/>
        </p:spPr>
        <p:txBody>
          <a:bodyPr wrap="square">
            <a:spAutoFit/>
          </a:bodyPr>
          <a:lstStyle/>
          <a:p>
            <a:pPr>
              <a:spcAft>
                <a:spcPts val="1000"/>
              </a:spcAft>
              <a:defRPr sz="1400" b="1">
                <a:solidFill>
                  <a:srgbClr val="00E5FF"/>
                </a:solidFill>
              </a:defRPr>
            </a:pPr>
            <a:r>
              <a:t>DATA PROVENANCE</a:t>
            </a:r>
          </a:p>
          <a:p>
            <a:pPr>
              <a:spcAft>
                <a:spcPts val="800"/>
              </a:spcAft>
              <a:defRPr sz="1100" b="1">
                <a:solidFill>
                  <a:srgbClr val="F59E0B"/>
                </a:solidFill>
              </a:defRPr>
            </a:pPr>
            <a:r>
              <a:t>Constraint: DRDO engine telemetry is highly classified.</a:t>
            </a:r>
          </a:p>
          <a:p>
            <a:pPr>
              <a:defRPr sz="1000">
                <a:solidFill>
                  <a:srgbClr val="F1F5F9"/>
                </a:solidFill>
              </a:defRPr>
            </a:pPr>
            <a:r>
              <a:t>Solution: We developed a calibrated, physics-based CAN-bus simulation modeled on standard Rotax 914 / AE300 thermodynamic curves.</a:t>
            </a:r>
            <a:br/>
            <a:br/>
            <a:r>
              <a:t>Degradation benchmarks are adapted from NASA C-MAPSS and seeded with real heat transfer, cavitation, and bearing wear dynamics.</a:t>
            </a:r>
          </a:p>
        </p:txBody>
      </p:sp>
      <p:sp>
        <p:nvSpPr>
          <p:cNvPr id="6" name="Rounded Rectangle 5"/>
          <p:cNvSpPr/>
          <p:nvPr/>
        </p:nvSpPr>
        <p:spPr>
          <a:xfrm>
            <a:off x="6217920" y="1280160"/>
            <a:ext cx="5212080" cy="4937760"/>
          </a:xfrm>
          <a:prstGeom prst="roundRect">
            <a:avLst/>
          </a:prstGeom>
          <a:solidFill>
            <a:srgbClr val="0D142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846320" cy="4572000"/>
          </a:xfrm>
          <a:prstGeom prst="rect">
            <a:avLst/>
          </a:prstGeom>
          <a:noFill/>
        </p:spPr>
        <p:txBody>
          <a:bodyPr wrap="square">
            <a:spAutoFit/>
          </a:bodyPr>
          <a:lstStyle/>
          <a:p>
            <a:pPr>
              <a:spcAft>
                <a:spcPts val="1000"/>
              </a:spcAft>
              <a:defRPr sz="1400" b="1">
                <a:solidFill>
                  <a:srgbClr val="10B981"/>
                </a:solidFill>
              </a:defRPr>
            </a:pPr>
            <a:r>
              <a:t>COMMAND AUTHORITY</a:t>
            </a:r>
          </a:p>
          <a:p>
            <a:pPr>
              <a:spcAft>
                <a:spcPts val="800"/>
              </a:spcAft>
              <a:defRPr sz="1100" b="1">
                <a:solidFill>
                  <a:srgbClr val="F59E0B"/>
                </a:solidFill>
              </a:defRPr>
            </a:pPr>
            <a:r>
              <a:t>Constraint: Unchecked AI cannot assume direct flight control.</a:t>
            </a:r>
          </a:p>
          <a:p>
            <a:pPr>
              <a:defRPr sz="1000">
                <a:solidFill>
                  <a:srgbClr val="F1F5F9"/>
                </a:solidFill>
              </a:defRPr>
            </a:pPr>
            <a:r>
              <a:t>Solution: 'Human-on-the-Loop' architecture.</a:t>
            </a:r>
            <a:br/>
            <a:br/>
            <a:r>
              <a:t>AeroGuard computes the safest de-rate trajectory and displays full XAI reasoning.</a:t>
            </a:r>
            <a:br/>
            <a:br/>
            <a:r>
              <a:t>The GCS operator or autopilot flight controller can confirm or override the recommendation with a single click.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594360"/>
          </a:xfrm>
          <a:prstGeom prst="rect">
            <a:avLst/>
          </a:prstGeom>
          <a:noFill/>
        </p:spPr>
        <p:txBody>
          <a:bodyPr wrap="square">
            <a:spAutoFit/>
          </a:bodyPr>
          <a:lstStyle/>
          <a:p>
            <a:pPr>
              <a:defRPr sz="2000" b="1">
                <a:solidFill>
                  <a:srgbClr val="F1F5F9"/>
                </a:solidFill>
                <a:latin typeface="Arial"/>
              </a:defRPr>
            </a:pPr>
            <a:r>
              <a:t>The AeroGuard Architecture: A high-performance, edge-deployable technology stack.</a:t>
            </a:r>
          </a:p>
        </p:txBody>
      </p:sp>
      <p:sp>
        <p:nvSpPr>
          <p:cNvPr id="4" name="Rounded Rectangle 3"/>
          <p:cNvSpPr/>
          <p:nvPr/>
        </p:nvSpPr>
        <p:spPr>
          <a:xfrm>
            <a:off x="731520" y="1371600"/>
            <a:ext cx="10698480" cy="109728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10332720" cy="914400"/>
          </a:xfrm>
          <a:prstGeom prst="rect">
            <a:avLst/>
          </a:prstGeom>
          <a:noFill/>
        </p:spPr>
        <p:txBody>
          <a:bodyPr wrap="square">
            <a:spAutoFit/>
          </a:bodyPr>
          <a:lstStyle/>
          <a:p>
            <a:pPr>
              <a:defRPr sz="1200" b="1">
                <a:solidFill>
                  <a:srgbClr val="00E5FF"/>
                </a:solidFill>
              </a:defRPr>
            </a:pPr>
            <a:r>
              <a:t>Tactical Mission Frontend</a:t>
            </a:r>
          </a:p>
          <a:p>
            <a:pPr>
              <a:defRPr sz="950">
                <a:solidFill>
                  <a:srgbClr val="F1F5F9"/>
                </a:solidFill>
              </a:defRPr>
            </a:pPr>
            <a:r>
              <a:t>Next.js 15, TypeScript, Tailwind CSS, Lucide-React, Recharts. Sub-20ms rendering loop.</a:t>
            </a:r>
          </a:p>
        </p:txBody>
      </p:sp>
      <p:sp>
        <p:nvSpPr>
          <p:cNvPr id="6" name="Rounded Rectangle 5"/>
          <p:cNvSpPr/>
          <p:nvPr/>
        </p:nvSpPr>
        <p:spPr>
          <a:xfrm>
            <a:off x="731520" y="2606040"/>
            <a:ext cx="10698480" cy="1097280"/>
          </a:xfrm>
          <a:prstGeom prst="roundRect">
            <a:avLst/>
          </a:prstGeom>
          <a:solidFill>
            <a:srgbClr val="0D1424"/>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97480"/>
            <a:ext cx="10332720" cy="914400"/>
          </a:xfrm>
          <a:prstGeom prst="rect">
            <a:avLst/>
          </a:prstGeom>
          <a:noFill/>
        </p:spPr>
        <p:txBody>
          <a:bodyPr wrap="square">
            <a:spAutoFit/>
          </a:bodyPr>
          <a:lstStyle/>
          <a:p>
            <a:pPr>
              <a:defRPr sz="1200" b="1">
                <a:solidFill>
                  <a:srgbClr val="A855F7"/>
                </a:solidFill>
              </a:defRPr>
            </a:pPr>
            <a:r>
              <a:t>Autonomous Agent</a:t>
            </a:r>
          </a:p>
          <a:p>
            <a:pPr>
              <a:defRPr sz="950">
                <a:solidFill>
                  <a:srgbClr val="F1F5F9"/>
                </a:solidFill>
              </a:defRPr>
            </a:pPr>
            <a:r>
              <a:t>Tactical Advisory Engine, Arrhenius life-extension models, XAI reasoning trace ledger.</a:t>
            </a:r>
          </a:p>
        </p:txBody>
      </p:sp>
      <p:sp>
        <p:nvSpPr>
          <p:cNvPr id="8" name="Rounded Rectangle 7"/>
          <p:cNvSpPr/>
          <p:nvPr/>
        </p:nvSpPr>
        <p:spPr>
          <a:xfrm>
            <a:off x="731520" y="3840480"/>
            <a:ext cx="10698480" cy="1097280"/>
          </a:xfrm>
          <a:prstGeom prst="roundRect">
            <a:avLst/>
          </a:prstGeom>
          <a:solidFill>
            <a:srgbClr val="0D142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31920"/>
            <a:ext cx="10332720" cy="914400"/>
          </a:xfrm>
          <a:prstGeom prst="rect">
            <a:avLst/>
          </a:prstGeom>
          <a:noFill/>
        </p:spPr>
        <p:txBody>
          <a:bodyPr wrap="square">
            <a:spAutoFit/>
          </a:bodyPr>
          <a:lstStyle/>
          <a:p>
            <a:pPr>
              <a:defRPr sz="1200" b="1">
                <a:solidFill>
                  <a:srgbClr val="F59E0B"/>
                </a:solidFill>
              </a:defRPr>
            </a:pPr>
            <a:r>
              <a:t>Core Backend Orchestration</a:t>
            </a:r>
          </a:p>
          <a:p>
            <a:pPr>
              <a:defRPr sz="950">
                <a:solidFill>
                  <a:srgbClr val="F1F5F9"/>
                </a:solidFill>
              </a:defRPr>
            </a:pPr>
            <a:r>
              <a:t>Python 3.11/3.14, FastAPI, WebSockets, Pydantic V2, bi-directional 5Hz telemetry hub.</a:t>
            </a:r>
          </a:p>
        </p:txBody>
      </p:sp>
      <p:sp>
        <p:nvSpPr>
          <p:cNvPr id="10" name="Rounded Rectangle 9"/>
          <p:cNvSpPr/>
          <p:nvPr/>
        </p:nvSpPr>
        <p:spPr>
          <a:xfrm>
            <a:off x="731520" y="5074920"/>
            <a:ext cx="10698480" cy="1097280"/>
          </a:xfrm>
          <a:prstGeom prst="roundRect">
            <a:avLst/>
          </a:prstGeom>
          <a:solidFill>
            <a:srgbClr val="0D142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66360"/>
            <a:ext cx="10332720" cy="914400"/>
          </a:xfrm>
          <a:prstGeom prst="rect">
            <a:avLst/>
          </a:prstGeom>
          <a:noFill/>
        </p:spPr>
        <p:txBody>
          <a:bodyPr wrap="square">
            <a:spAutoFit/>
          </a:bodyPr>
          <a:lstStyle/>
          <a:p>
            <a:pPr>
              <a:defRPr sz="1200" b="1">
                <a:solidFill>
                  <a:srgbClr val="10B981"/>
                </a:solidFill>
              </a:defRPr>
            </a:pPr>
            <a:r>
              <a:t>AI &amp; Simulation Engine</a:t>
            </a:r>
          </a:p>
          <a:p>
            <a:pPr>
              <a:defRPr sz="950">
                <a:solidFill>
                  <a:srgbClr val="F1F5F9"/>
                </a:solidFill>
              </a:defRPr>
            </a:pPr>
            <a:r>
              <a:t>PyTorch 2-layer BiLSTM, NumPy, 1D Thermodynamic Otto Combustion/Heat Model, CAN-bus Generator.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914400"/>
            <a:ext cx="10698480" cy="4754880"/>
          </a:xfrm>
          <a:prstGeom prst="roundRect">
            <a:avLst/>
          </a:prstGeom>
          <a:solidFill>
            <a:srgbClr val="0D1424"/>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188720"/>
            <a:ext cx="10149840" cy="4297680"/>
          </a:xfrm>
          <a:prstGeom prst="rect">
            <a:avLst/>
          </a:prstGeom>
          <a:noFill/>
        </p:spPr>
        <p:txBody>
          <a:bodyPr wrap="square">
            <a:spAutoFit/>
          </a:bodyPr>
          <a:lstStyle/>
          <a:p>
            <a:pPr>
              <a:spcAft>
                <a:spcPts val="2000"/>
              </a:spcAft>
              <a:defRPr sz="2800" b="1">
                <a:solidFill>
                  <a:srgbClr val="F1F5F9"/>
                </a:solidFill>
              </a:defRPr>
            </a:pPr>
            <a:r>
              <a:t>Maximum persistent ISR. Zero unpredictable engine losses.</a:t>
            </a:r>
          </a:p>
          <a:p>
            <a:pPr>
              <a:spcAft>
                <a:spcPts val="3000"/>
              </a:spcAft>
              <a:defRPr sz="1400">
                <a:solidFill>
                  <a:srgbClr val="94A3B8"/>
                </a:solidFill>
              </a:defRPr>
            </a:pPr>
            <a:r>
              <a:t>Project AeroGuard transforms multi-million-dollar MALE UAVs from vulnerable assets into self-aware, survival-optimized systems.</a:t>
            </a:r>
            <a:br/>
            <a:br/>
            <a:r>
              <a:t>By fusing foundational physical laws with edge-deployed deep learning, we ensure the mission continues.</a:t>
            </a:r>
          </a:p>
          <a:p>
            <a:pPr>
              <a:defRPr sz="1200" b="1">
                <a:solidFill>
                  <a:srgbClr val="00E5FF"/>
                </a:solidFill>
              </a:defRPr>
            </a:pPr>
            <a:r>
              <a:t>Project AeroGuard is ready for deployment.</a:t>
            </a:r>
            <a:br/>
            <a:r>
              <a:t>SIH26054 | Department of Defence Production / iDEX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