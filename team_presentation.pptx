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ONBOARDING OPENING:</a:t>
            </a:r>
          </a:p>
          <a:p>
            <a:r>
              <a:t>Team, this is Project AeroTwin for DRDO Problem Statement SIH26054. India's military surveillance UAV (TAPAS-BH-201) relies on a turbocharged aero-piston engine. Our mission is to prevent in-flight engine failures using real-time physics residual tracking and deep learning prognostics.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91440" cy="3291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DRDO PROBLEM STATEMENT SIH26054 • TEAM ORIENTATION</a:t>
            </a:r>
          </a:p>
          <a:p>
            <a:pPr>
              <a:spcAft>
                <a:spcPts val="1000"/>
              </a:spcAft>
              <a:defRPr sz="3600" b="1">
                <a:solidFill>
                  <a:srgbClr val="F8FAFC"/>
                </a:solidFill>
              </a:defRPr>
            </a:pPr>
            <a:r>
              <a:t>MALE UAV Aero Piston Engine Digital Twin</a:t>
            </a:r>
          </a:p>
          <a:p>
            <a:pPr>
              <a:spcAft>
                <a:spcPts val="2800"/>
              </a:spcAft>
              <a:defRPr sz="1600">
                <a:solidFill>
                  <a:srgbClr val="94A3B8"/>
                </a:solidFill>
              </a:defRPr>
            </a:pPr>
            <a:r>
              <a:t>Cyber-Physical Thermodynamic Modeling, PyTorch BiLSTM Prognostics &amp; Tactical Ground Control Station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Target Platform: DRDO TAPAS-BH-201 (Rustom-II) | Powerplant: Rotax 914 Turbo (4-Cylinder DOHC)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MISSION BACKGROUND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Why Traditional Aircraft Monitoring Fails in MALE UAVs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EF4444"/>
                </a:solidFill>
              </a:defRPr>
            </a:pPr>
            <a:r>
              <a:t>TRADITIONAL SCADA THRESHOLDS (FLAWED)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Static Redlines: Triggers alarms only when a fixed value is crossed (e.g. CHT &gt; 135°C), ignoring flight context.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False Alarms during Climb: Aggressive takeoff/climb at 100% throttle naturally drives temperatures up, triggering false mission aborts.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Zero Lead Time on Incipient Faults: By the time low-power cruise crossings occur, the cylinder head is warped or bearings are welded shut.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No Actionable Directives: Simply beeps at the pilot without calculating life extension or emergency glide envelopes.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0B981"/>
                </a:solidFill>
              </a:defRPr>
            </a:pPr>
            <a:r>
              <a:t>OUR PHYSICS-INFORMED DIGITAL TWIN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Synchronized 1D Physics Baseline: Real-time mathematical Otto cycle calculates theoretical expected values dynamically based on throttle and altitude.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Physics Residual Tracking (Δ): Computes Delta = Sensor - Expected. Filters out normal climb transients and isolates true mechanical leaks.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BiLSTM Neural Prognostics: Predicts Remaining Useful Life (RUL) in minutes and classifies specific failure modes before physical limits are breached.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Autonomous Tactical Advisory: Calculates exact life extension (e.g. +45 mins) and outputs Flight Control System directives (de-rate throttle, RTB glide).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ARCHITECTURE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Full-Stack End-to-End Monorepo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1. Physics Simulator</a:t>
            </a:r>
          </a:p>
          <a:p>
            <a:pPr>
              <a:spcAft>
                <a:spcPts val="1400"/>
              </a:spcAft>
              <a:defRPr sz="900">
                <a:solidFill>
                  <a:srgbClr val="38BDF8"/>
                </a:solidFill>
              </a:defRPr>
            </a:pPr>
            <a:r>
              <a:t>backend/simulator.py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▪ 100ms Euler integration step (10Hz loop)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▪ Rotax 914 Turbocharged 4-cylinder engine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▪ Outputs: RPM, MAP, CHT 1-4, EGT 1-4, Oil P/T, Vib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▪ Stateful fault triggers (Coolant, Oil, Misfire)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A855F7"/>
                </a:solidFill>
              </a:defRPr>
            </a:pPr>
            <a:r>
              <a:t>2. Digital Twin Engine</a:t>
            </a:r>
          </a:p>
          <a:p>
            <a:pPr>
              <a:spcAft>
                <a:spcPts val="1400"/>
              </a:spcAft>
              <a:defRPr sz="900">
                <a:solidFill>
                  <a:srgbClr val="38BDF8"/>
                </a:solidFill>
              </a:defRPr>
            </a:pPr>
            <a:r>
              <a:t>backend/digital_twin.py &amp; advisory.py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▪ 1D First-principles Otto baseline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▪ Multi-sensor residual analyzer (Δ)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▪ PyTorch 2-layer BiLSTM model (RUL)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▪ Autonomous Advisory &amp; Life Extension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3. Tactical GCS UI</a:t>
            </a:r>
          </a:p>
          <a:p>
            <a:pPr>
              <a:spcAft>
                <a:spcPts val="1400"/>
              </a:spcAft>
              <a:defRPr sz="900">
                <a:solidFill>
                  <a:srgbClr val="38BDF8"/>
                </a:solidFill>
              </a:defRPr>
            </a:pPr>
            <a:r>
              <a:t>frontend/src/ (Next.js 15)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▪ 5Hz bi-directional WebSocket client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▪ Recharts multi-stream rolling graphs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▪ 4-Cylinder thermal schematics &amp; spreads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▪ Interactive fault injection &amp; throttle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GROUND CONTROL STATION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Tactical GCS Interface &amp; Real-Time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cs_nomina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8040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463040"/>
            <a:ext cx="384048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00200"/>
            <a:ext cx="3474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CORE DASHBOARD MODULES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• Header HUD: Drone ID, Altitude, Airspeed, OAT, Flight Mode, UTC Clock, 5Hz Live Stream.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• Health &amp; RUL Banner: Digital RUL countdown (mins), radial Health Gauge (0-100%), and PHM logits.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• 4-Cylinder Thermal Grid: Individual CHT/EGT progress bars with theoretical baseline deltas (ΔTheo).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• Recharts Analytics: 5 tabbed live rolling line graphs (CHT, EGT, Lubrication, Vibration, RPM/MAP).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• Advisory Terminal: Action Directives, Life Extension gains, and root-cause diagnostic trace log.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• Fault Testing Deck: 4 fault trigger cards, throttle slider (0-100%), and mission reset.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DEMONSTRATION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In-Flight Fault Scenarios &amp; Throttle Dynamics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🟢 NOMINAL BASELINE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Optimal stoichiometric combustion. CHT ~100°C, Oil P 4.2 bar, Vib 2.1g, RUL 600 mins. Directive: MAINTAIN CRUISE PROFILE.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🔴 COOLANT LEAK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Convective cooling decays exponentially. CHT surges past 135°C on Cyl 2 &amp; 3. Directive: DE-RATE THROTTLE TO 55% FOR RAM AIR COOLING (+35m life).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F4444"/>
                </a:solidFill>
              </a:defRPr>
            </a:pPr>
            <a:r>
              <a:t>🟠 OIL STARVATION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Loss of hydrodynamic film. Oil P drops &lt;1.2 bar, bearing vibration surges to &gt;13g. RUL collapses to 1.0 min. Directive: IMMEDIATE EMERGENCY RTB.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9776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855F7"/>
                </a:solidFill>
              </a:defRPr>
            </a:pPr>
            <a:r>
              <a:t>🟡 CYLINDER 3 MISFIRE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Ignition/injector failure on Cyl 3. EGT drops &lt;400°C, EGT spread widens &gt;350°C causing cyclic torque ripple. Directive: DUAL-CHANNEL IGNITION RESET.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HACKATHON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Team Demonstration Flow &amp; Speaker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THE 90-SECOND WINNING DEMO STRUCTURE</a:t>
            </a:r>
          </a:p>
          <a:p>
            <a:pPr>
              <a:spcAft>
                <a:spcPts val="200"/>
              </a:spcAft>
              <a:defRPr sz="1150" b="1">
                <a:solidFill>
                  <a:srgbClr val="F8FAFC"/>
                </a:solidFill>
              </a:defRPr>
            </a:pPr>
            <a:r>
              <a:t>▶ Step 1 (0:00 - 0:25) - The Hook &amp; Context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Introduce DRDO Problem Statement SIH26054, the TAPAS MALE UAV airframe, and why static redlines fail.</a:t>
            </a:r>
          </a:p>
          <a:p>
            <a:pPr>
              <a:spcAft>
                <a:spcPts val="200"/>
              </a:spcAft>
              <a:defRPr sz="1150" b="1">
                <a:solidFill>
                  <a:srgbClr val="F8FAFC"/>
                </a:solidFill>
              </a:defRPr>
            </a:pPr>
            <a:r>
              <a:t>▶ Step 2 (0:25 - 0:50) - Live Nominal Flight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Show the live dashboard updating at 5Hz. Point out the 4-cylinder thermal schematic matching 1D Otto baseline.</a:t>
            </a:r>
          </a:p>
          <a:p>
            <a:pPr>
              <a:spcAft>
                <a:spcPts val="200"/>
              </a:spcAft>
              <a:defRPr sz="1150" b="1">
                <a:solidFill>
                  <a:srgbClr val="F8FAFC"/>
                </a:solidFill>
              </a:defRPr>
            </a:pPr>
            <a:r>
              <a:t>▶ Step 3 (0:50 - 1:20) - The Fault Injection Trigger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Click 'OIL STARVATION'. Watch oil pressure collapse, vibration surge to 14g, and RUL plummet to 1.0 min.</a:t>
            </a:r>
          </a:p>
          <a:p>
            <a:pPr>
              <a:spcAft>
                <a:spcPts val="200"/>
              </a:spcAft>
              <a:defRPr sz="1150" b="1">
                <a:solidFill>
                  <a:srgbClr val="F8FAFC"/>
                </a:solidFill>
              </a:defRPr>
            </a:pPr>
            <a:r>
              <a:t>▶ Step 4 (1:20 - 1:45) - The AI Advisory in Action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Highlight the Action Directive ('EMERGENCY RTB: GLIDE DESCENT') and the transparent diagnostic reasoning trace.</a:t>
            </a:r>
          </a:p>
          <a:p>
            <a:pPr>
              <a:spcAft>
                <a:spcPts val="200"/>
              </a:spcAft>
              <a:defRPr sz="1150" b="1">
                <a:solidFill>
                  <a:srgbClr val="F8FAFC"/>
                </a:solidFill>
              </a:defRPr>
            </a:pPr>
            <a:r>
              <a:t>▶ Step 5 (1:45 - 2:00) - Recovery &amp; Conclusion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   Click 'NOMINAL FLIGHT' to show closed-loop recovery. Open the floor for jury Q&amp;A with total confidence.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